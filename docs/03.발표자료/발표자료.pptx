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60" r:id="rId7"/>
    <p:sldId id="269" r:id="rId8"/>
    <p:sldId id="271" r:id="rId9"/>
    <p:sldId id="272" r:id="rId10"/>
    <p:sldId id="266" r:id="rId11"/>
    <p:sldId id="274" r:id="rId12"/>
    <p:sldId id="273" r:id="rId13"/>
  </p:sldIdLst>
  <p:sldSz cx="18288000" cy="10287000"/>
  <p:notesSz cx="6858000" cy="9144000"/>
  <p:embeddedFontLst>
    <p:embeddedFont>
      <p:font typeface="Inter Semi-Bold" panose="020B0600000101010101" charset="-127"/>
      <p:regular r:id="rId15"/>
      <p:bold r:id="rId16"/>
    </p:embeddedFont>
    <p:embeddedFont>
      <p:font typeface="Source Han Sans KR Bold" panose="020B0600000101010101" charset="-127"/>
      <p:regular r:id="rId17"/>
      <p:bold r:id="rId18"/>
    </p:embeddedFont>
    <p:embeddedFont>
      <p:font typeface="Inter" panose="020B0600000101010101" charset="0"/>
      <p:regular r:id="rId19"/>
    </p:embeddedFont>
    <p:embeddedFont>
      <p:font typeface="Inter Bold" panose="020B0600000101010101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5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8" autoAdjust="0"/>
    <p:restoredTop sz="94567" autoAdjust="0"/>
  </p:normalViewPr>
  <p:slideViewPr>
    <p:cSldViewPr>
      <p:cViewPr varScale="1">
        <p:scale>
          <a:sx n="49" d="100"/>
          <a:sy n="49" d="100"/>
        </p:scale>
        <p:origin x="60" y="1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ECD43-B8E1-AE43-A85D-70C156BF7643}" type="datetimeFigureOut">
              <a:rPr kumimoji="1" lang="ko-Kore-KR" altLang="en-US" smtClean="0"/>
              <a:t>09/25/2025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C9B28-136B-FD4E-B20C-8B4B5969E91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4698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C9B28-136B-FD4E-B20C-8B4B5969E912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2867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C9B28-136B-FD4E-B20C-8B4B5969E912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5927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AE394-D2DF-08B4-F427-EBD19D71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DADC38-9F20-8C7C-442C-4E43ED565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10D1DB-2816-5803-4B17-C1E6A5027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A8A7F2-A4F0-2AA2-99F9-CDE4A2845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C9B28-136B-FD4E-B20C-8B4B5969E912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472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2436" y="816258"/>
            <a:ext cx="2884832" cy="737968"/>
            <a:chOff x="0" y="0"/>
            <a:chExt cx="759791" cy="194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9791" cy="194362"/>
            </a:xfrm>
            <a:custGeom>
              <a:avLst/>
              <a:gdLst/>
              <a:ahLst/>
              <a:cxnLst/>
              <a:rect l="l" t="t" r="r" b="b"/>
              <a:pathLst>
                <a:path w="759791" h="194362">
                  <a:moveTo>
                    <a:pt x="97181" y="0"/>
                  </a:moveTo>
                  <a:lnTo>
                    <a:pt x="662610" y="0"/>
                  </a:lnTo>
                  <a:cubicBezTo>
                    <a:pt x="716282" y="0"/>
                    <a:pt x="759791" y="43509"/>
                    <a:pt x="759791" y="97181"/>
                  </a:cubicBezTo>
                  <a:lnTo>
                    <a:pt x="759791" y="97181"/>
                  </a:lnTo>
                  <a:cubicBezTo>
                    <a:pt x="759791" y="122955"/>
                    <a:pt x="749552" y="147673"/>
                    <a:pt x="731327" y="165898"/>
                  </a:cubicBezTo>
                  <a:cubicBezTo>
                    <a:pt x="713102" y="184123"/>
                    <a:pt x="688384" y="194362"/>
                    <a:pt x="662610" y="194362"/>
                  </a:cubicBezTo>
                  <a:lnTo>
                    <a:pt x="97181" y="194362"/>
                  </a:lnTo>
                  <a:cubicBezTo>
                    <a:pt x="71407" y="194362"/>
                    <a:pt x="46689" y="184123"/>
                    <a:pt x="28464" y="165898"/>
                  </a:cubicBezTo>
                  <a:cubicBezTo>
                    <a:pt x="10239" y="147673"/>
                    <a:pt x="0" y="122955"/>
                    <a:pt x="0" y="97181"/>
                  </a:cubicBezTo>
                  <a:lnTo>
                    <a:pt x="0" y="97181"/>
                  </a:lnTo>
                  <a:cubicBezTo>
                    <a:pt x="0" y="71407"/>
                    <a:pt x="10239" y="46689"/>
                    <a:pt x="28464" y="28464"/>
                  </a:cubicBezTo>
                  <a:cubicBezTo>
                    <a:pt x="46689" y="10239"/>
                    <a:pt x="71407" y="0"/>
                    <a:pt x="9718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59791" cy="232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1000" y="3869713"/>
            <a:ext cx="17216268" cy="1582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647"/>
              </a:lnSpc>
              <a:spcBef>
                <a:spcPct val="0"/>
              </a:spcBef>
            </a:pPr>
            <a:r>
              <a:rPr lang="ko-KR" altLang="en-US" sz="6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클라우드 환경에서의 사용자 행동 프로파일링</a:t>
            </a:r>
            <a:endParaRPr lang="en-US" sz="60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687751" y="8572500"/>
            <a:ext cx="6934200" cy="37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최두환</a:t>
            </a:r>
            <a:r>
              <a:rPr lang="en-US" altLang="ko-KR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,</a:t>
            </a:r>
            <a:r>
              <a:rPr lang="ko-KR" alt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심여준</a:t>
            </a:r>
            <a:r>
              <a:rPr lang="en-US" altLang="ko-KR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,</a:t>
            </a:r>
            <a:r>
              <a:rPr lang="ko-KR" alt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유지호</a:t>
            </a:r>
            <a:endParaRPr lang="en-US" sz="3200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188324" y="865511"/>
            <a:ext cx="1933054" cy="68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3"/>
              </a:lnSpc>
              <a:spcBef>
                <a:spcPct val="0"/>
              </a:spcBef>
            </a:pPr>
            <a:r>
              <a:rPr lang="en-US" sz="2002" b="1" dirty="0">
                <a:solidFill>
                  <a:srgbClr val="EBEEF0"/>
                </a:solidFill>
                <a:latin typeface="Inter Bold"/>
                <a:ea typeface="Inter Bold"/>
                <a:cs typeface="Inter Bold"/>
                <a:sym typeface="Inter Bold"/>
              </a:rPr>
              <a:t>GRADUATION PROJECT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6E39578-ECDE-C17E-B3A1-A6EEE74D2C9E}"/>
              </a:ext>
            </a:extLst>
          </p:cNvPr>
          <p:cNvSpPr txBox="1"/>
          <p:nvPr/>
        </p:nvSpPr>
        <p:spPr>
          <a:xfrm>
            <a:off x="5867400" y="6057900"/>
            <a:ext cx="7772400" cy="37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AWS</a:t>
            </a:r>
            <a:r>
              <a:rPr lang="ko-KR" alt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+mj-ea"/>
                <a:ea typeface="+mj-ea"/>
                <a:cs typeface="Inter Bold"/>
                <a:sym typeface="Inter Bold"/>
              </a:rPr>
              <a:t>환경에서의</a:t>
            </a:r>
            <a:r>
              <a:rPr lang="ko-KR" alt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UEBA </a:t>
            </a:r>
            <a:r>
              <a:rPr lang="ko-KR" altLang="en-US" sz="32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기반 이상탐지</a:t>
            </a:r>
            <a:endParaRPr lang="en-US" sz="3200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38755" y="3101026"/>
            <a:ext cx="297060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배경</a:t>
            </a:r>
            <a:endParaRPr lang="en-US" sz="3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38755" y="4062625"/>
            <a:ext cx="366920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목표 및 주제</a:t>
            </a:r>
            <a:endParaRPr lang="en-US" sz="30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82241" y="3101026"/>
            <a:ext cx="40645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2241" y="4062625"/>
            <a:ext cx="468734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1066800" y="4181901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AutoShape 9"/>
          <p:cNvSpPr/>
          <p:nvPr/>
        </p:nvSpPr>
        <p:spPr>
          <a:xfrm flipV="1">
            <a:off x="1066800" y="5143500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AutoShape 10"/>
          <p:cNvSpPr/>
          <p:nvPr/>
        </p:nvSpPr>
        <p:spPr>
          <a:xfrm flipV="1">
            <a:off x="1066800" y="6105100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282240" y="5024225"/>
            <a:ext cx="698959" cy="811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3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838755" y="5024225"/>
            <a:ext cx="2896493" cy="810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내용</a:t>
            </a:r>
            <a:endParaRPr lang="en-US" sz="30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838755" y="5985824"/>
            <a:ext cx="3776067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결과</a:t>
            </a:r>
            <a:endParaRPr lang="en-US" sz="30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0270F265-2060-A282-45F7-B2B631F37ABE}"/>
              </a:ext>
            </a:extLst>
          </p:cNvPr>
          <p:cNvSpPr txBox="1"/>
          <p:nvPr/>
        </p:nvSpPr>
        <p:spPr>
          <a:xfrm>
            <a:off x="1280291" y="6067871"/>
            <a:ext cx="698959" cy="811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lang="en-US" sz="3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1028700" y="971550"/>
            <a:ext cx="297060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배경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20515" y="7988041"/>
            <a:ext cx="160466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EBEE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DATA-DRIVEN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2939" y="7988041"/>
            <a:ext cx="101865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EBEE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PASSION</a:t>
            </a:r>
          </a:p>
        </p:txBody>
      </p:sp>
      <p:pic>
        <p:nvPicPr>
          <p:cNvPr id="20" name="그림 1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3CC3D7-6B2A-FBC5-1701-BE47E237C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4"/>
          <a:stretch>
            <a:fillRect/>
          </a:stretch>
        </p:blipFill>
        <p:spPr bwMode="auto">
          <a:xfrm>
            <a:off x="1935757" y="2050287"/>
            <a:ext cx="5729020" cy="30932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6C7F1F-F819-FDB3-D1D0-EC6C541771C0}"/>
              </a:ext>
            </a:extLst>
          </p:cNvPr>
          <p:cNvSpPr txBox="1"/>
          <p:nvPr/>
        </p:nvSpPr>
        <p:spPr>
          <a:xfrm>
            <a:off x="2819067" y="532152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퍼블릭 클라우드 수요 증가</a:t>
            </a:r>
            <a:endParaRPr kumimoji="1" lang="ko-Kore-KR" altLang="en-US" sz="2400" dirty="0"/>
          </a:p>
        </p:txBody>
      </p:sp>
      <p:pic>
        <p:nvPicPr>
          <p:cNvPr id="22" name="그림 2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98F872-0555-6DBA-C29F-5154057C6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99" y="2014147"/>
            <a:ext cx="5794194" cy="312935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562DA6-B87A-9B66-F8BB-11D9541E49EA}"/>
              </a:ext>
            </a:extLst>
          </p:cNvPr>
          <p:cNvSpPr txBox="1"/>
          <p:nvPr/>
        </p:nvSpPr>
        <p:spPr>
          <a:xfrm>
            <a:off x="10439400" y="532152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내부자 위협 증가</a:t>
            </a:r>
            <a:endParaRPr kumimoji="1" lang="ko-Kore-KR" alt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7E736B-17C5-67E5-D638-C0317DA76C5E}"/>
              </a:ext>
            </a:extLst>
          </p:cNvPr>
          <p:cNvSpPr txBox="1"/>
          <p:nvPr/>
        </p:nvSpPr>
        <p:spPr>
          <a:xfrm>
            <a:off x="2741646" y="9248721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계정 탈취의 위험</a:t>
            </a:r>
            <a:endParaRPr kumimoji="1" lang="ko-Kore-KR" altLang="en-US" sz="2400" dirty="0"/>
          </a:p>
        </p:txBody>
      </p:sp>
      <p:pic>
        <p:nvPicPr>
          <p:cNvPr id="27" name="그림 26" descr="클립아트, 일러스트레이션, 애니메이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45ECFF-DD45-0D38-F5F9-2C793E00B5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758" y="6085374"/>
            <a:ext cx="5729020" cy="2999244"/>
          </a:xfrm>
          <a:prstGeom prst="rect">
            <a:avLst/>
          </a:prstGeom>
        </p:spPr>
      </p:pic>
      <p:pic>
        <p:nvPicPr>
          <p:cNvPr id="29" name="그림 28" descr="텍스트, 도표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B65DA3-6AEB-AB05-F1FA-D5894E83B6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099" y="6098664"/>
            <a:ext cx="5864376" cy="29859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EE7EDD4-E7FD-F5DE-5683-CEB74BFAC08B}"/>
              </a:ext>
            </a:extLst>
          </p:cNvPr>
          <p:cNvSpPr txBox="1"/>
          <p:nvPr/>
        </p:nvSpPr>
        <p:spPr>
          <a:xfrm>
            <a:off x="10584087" y="9110294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400" dirty="0"/>
              <a:t>AWS </a:t>
            </a:r>
            <a:r>
              <a:rPr kumimoji="1" lang="ko-KR" altLang="en-US" sz="2400" dirty="0"/>
              <a:t>보안 서비스 한계</a:t>
            </a:r>
            <a:endParaRPr kumimoji="1" lang="ko-Kore-KR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C5B25B-033B-C143-7DC0-A58B11AB0C90}"/>
              </a:ext>
            </a:extLst>
          </p:cNvPr>
          <p:cNvSpPr txBox="1"/>
          <p:nvPr/>
        </p:nvSpPr>
        <p:spPr>
          <a:xfrm>
            <a:off x="1028700" y="971550"/>
            <a:ext cx="44577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목표 및 주제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6" name="그림 5" descr="graph3 Banner">
            <a:extLst>
              <a:ext uri="{FF2B5EF4-FFF2-40B4-BE49-F238E27FC236}">
                <a16:creationId xmlns:a16="http://schemas.microsoft.com/office/drawing/2014/main" id="{6F029A95-D252-EF9D-E4DE-7F7F51CF9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222" y="5547181"/>
            <a:ext cx="11664061" cy="26543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CCCCE-BDEC-17B0-A780-6BDC3D8CE9D9}"/>
              </a:ext>
            </a:extLst>
          </p:cNvPr>
          <p:cNvSpPr txBox="1"/>
          <p:nvPr/>
        </p:nvSpPr>
        <p:spPr>
          <a:xfrm>
            <a:off x="1059180" y="2559477"/>
            <a:ext cx="13220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b="1" dirty="0">
                <a:latin typeface="+mn-ea"/>
              </a:rPr>
              <a:t>주제 </a:t>
            </a:r>
            <a:r>
              <a:rPr lang="en-US" altLang="ko-KR" sz="3200" b="1" dirty="0">
                <a:latin typeface="+mn-ea"/>
              </a:rPr>
              <a:t>:</a:t>
            </a: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>
                <a:latin typeface="+mn-ea"/>
              </a:rPr>
              <a:t>AWS</a:t>
            </a:r>
            <a:r>
              <a:rPr lang="ko-KR" altLang="en-US" sz="3200" b="1" dirty="0">
                <a:latin typeface="+mn-ea"/>
              </a:rPr>
              <a:t> 환경에서의 </a:t>
            </a:r>
            <a:r>
              <a:rPr lang="en-US" altLang="ko-KR" sz="3200" b="1" dirty="0">
                <a:latin typeface="+mn-ea"/>
              </a:rPr>
              <a:t>UEBA</a:t>
            </a:r>
            <a:r>
              <a:rPr lang="ko-KR" altLang="en-US" sz="3200" b="1" dirty="0">
                <a:latin typeface="+mn-ea"/>
              </a:rPr>
              <a:t> 기반 사용자 행동 프로파일링</a:t>
            </a:r>
            <a:endParaRPr lang="en-US" altLang="ko-KR" sz="3200" b="1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0C64B-A60E-1FFF-03B3-E9BC53470BE8}"/>
              </a:ext>
            </a:extLst>
          </p:cNvPr>
          <p:cNvSpPr txBox="1"/>
          <p:nvPr/>
        </p:nvSpPr>
        <p:spPr>
          <a:xfrm>
            <a:off x="1743583" y="3144252"/>
            <a:ext cx="13220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+mn-ea"/>
              </a:rPr>
              <a:t>-</a:t>
            </a:r>
            <a:r>
              <a:rPr lang="ko-KR" altLang="en-US" sz="3200" dirty="0">
                <a:latin typeface="+mn-ea"/>
              </a:rPr>
              <a:t> </a:t>
            </a:r>
            <a:r>
              <a:rPr lang="en-US" altLang="ko-KR" sz="3200" dirty="0">
                <a:latin typeface="+mn-ea"/>
              </a:rPr>
              <a:t>UEBA </a:t>
            </a:r>
          </a:p>
          <a:p>
            <a:r>
              <a:rPr lang="en-US" altLang="ko-KR" sz="3200" dirty="0">
                <a:latin typeface="+mn-ea"/>
              </a:rPr>
              <a:t> 	</a:t>
            </a:r>
            <a:r>
              <a:rPr lang="ko-KR" altLang="en-US" sz="3200" dirty="0">
                <a:latin typeface="+mn-ea"/>
              </a:rPr>
              <a:t>사용자와 </a:t>
            </a:r>
            <a:r>
              <a:rPr lang="ko-KR" altLang="en-US" sz="3200" dirty="0" err="1">
                <a:latin typeface="+mn-ea"/>
              </a:rPr>
              <a:t>엔터티의</a:t>
            </a:r>
            <a:r>
              <a:rPr lang="ko-KR" altLang="en-US" sz="3200" dirty="0">
                <a:latin typeface="+mn-ea"/>
              </a:rPr>
              <a:t> 정상적인 행동 패턴 학습</a:t>
            </a:r>
            <a:r>
              <a:rPr lang="en-US" altLang="ko-KR" sz="3200" dirty="0">
                <a:latin typeface="+mn-ea"/>
              </a:rPr>
              <a:t>,</a:t>
            </a:r>
            <a:r>
              <a:rPr lang="ko-KR" altLang="en-US" sz="3200" dirty="0">
                <a:latin typeface="+mn-ea"/>
              </a:rPr>
              <a:t> 그에 벗어나는 </a:t>
            </a:r>
            <a:r>
              <a:rPr lang="en-US" altLang="ko-KR" sz="3200" dirty="0">
                <a:latin typeface="+mn-ea"/>
              </a:rPr>
              <a:t>	</a:t>
            </a:r>
            <a:r>
              <a:rPr lang="ko-KR" altLang="en-US" sz="3200" dirty="0">
                <a:latin typeface="+mn-ea"/>
              </a:rPr>
              <a:t>비정상적 행동을 탐지하는 보안 접근 방식</a:t>
            </a:r>
            <a:endParaRPr lang="en-US" altLang="ko-KR" sz="32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D5E5F-09ED-7046-1750-969D455A4867}"/>
              </a:ext>
            </a:extLst>
          </p:cNvPr>
          <p:cNvSpPr txBox="1"/>
          <p:nvPr/>
        </p:nvSpPr>
        <p:spPr>
          <a:xfrm>
            <a:off x="7108379" y="8379461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400" dirty="0"/>
              <a:t>UEBA</a:t>
            </a:r>
            <a:r>
              <a:rPr kumimoji="1" lang="ko-KR" altLang="en-US" sz="2400" dirty="0"/>
              <a:t>의 장점</a:t>
            </a:r>
            <a:endParaRPr kumimoji="1"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6153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28536-4531-0E3F-DD4A-8C0F6403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A1F6906-48B5-9D5D-D9B5-5CFC7D1B3886}"/>
              </a:ext>
            </a:extLst>
          </p:cNvPr>
          <p:cNvSpPr txBox="1"/>
          <p:nvPr/>
        </p:nvSpPr>
        <p:spPr>
          <a:xfrm>
            <a:off x="1028700" y="971550"/>
            <a:ext cx="44577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목표 및 주제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2954-E1B3-27F1-C258-E2715CC4D469}"/>
              </a:ext>
            </a:extLst>
          </p:cNvPr>
          <p:cNvSpPr txBox="1"/>
          <p:nvPr/>
        </p:nvSpPr>
        <p:spPr>
          <a:xfrm>
            <a:off x="1059180" y="2559477"/>
            <a:ext cx="13220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b="1" dirty="0">
                <a:latin typeface="+mn-ea"/>
              </a:rPr>
              <a:t>목표</a:t>
            </a:r>
            <a:endParaRPr lang="en-US" altLang="ko-KR" sz="32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12847-F529-24D1-CDE8-1DFA2781EDAE}"/>
              </a:ext>
            </a:extLst>
          </p:cNvPr>
          <p:cNvSpPr txBox="1"/>
          <p:nvPr/>
        </p:nvSpPr>
        <p:spPr>
          <a:xfrm>
            <a:off x="1752600" y="3314700"/>
            <a:ext cx="14106017" cy="3690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3200" dirty="0">
                <a:latin typeface="+mn-ea"/>
              </a:rPr>
              <a:t>AWS </a:t>
            </a:r>
            <a:r>
              <a:rPr lang="ko-KR" altLang="en-US" sz="3200" dirty="0">
                <a:latin typeface="+mn-ea"/>
              </a:rPr>
              <a:t>클라우드 환경에서 정상 사용자의 행동 프로파일링</a:t>
            </a: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3200" dirty="0">
                <a:latin typeface="+mn-ea"/>
              </a:rPr>
              <a:t>로그인 지속 시간별로 세션분리 후 특화된 모델을 활용</a:t>
            </a: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3200" dirty="0">
                <a:latin typeface="+mn-ea"/>
              </a:rPr>
              <a:t>사용자의 행동을 실시간 분석 및 이상탐지 결과 산출 후 결과에 따른 대응</a:t>
            </a: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3200" dirty="0">
                <a:latin typeface="+mn-ea"/>
              </a:rPr>
              <a:t>인프라형 코드를 도입하여</a:t>
            </a:r>
            <a:r>
              <a:rPr lang="en-US" altLang="ko-KR" sz="3200" dirty="0">
                <a:latin typeface="+mn-ea"/>
              </a:rPr>
              <a:t> UEBA </a:t>
            </a:r>
            <a:r>
              <a:rPr lang="ko-KR" altLang="en-US" sz="3200" dirty="0">
                <a:latin typeface="+mn-ea"/>
              </a:rPr>
              <a:t>환경 구축 자동화</a:t>
            </a: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3200" dirty="0">
                <a:latin typeface="+mn-ea"/>
              </a:rPr>
              <a:t> 향상관리자의 실시간 사용자 행동 및 행동 </a:t>
            </a:r>
            <a:r>
              <a:rPr lang="en-US" altLang="ko-KR" sz="3200" dirty="0">
                <a:latin typeface="+mn-ea"/>
              </a:rPr>
              <a:t>Risk Score </a:t>
            </a:r>
            <a:r>
              <a:rPr lang="ko-KR" altLang="en-US" sz="3200" dirty="0">
                <a:latin typeface="+mn-ea"/>
              </a:rPr>
              <a:t>분석 지원</a:t>
            </a:r>
            <a:endParaRPr lang="en-US" altLang="ko-KR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941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56B708-6C18-C371-9C5E-7FE246E82081}"/>
              </a:ext>
            </a:extLst>
          </p:cNvPr>
          <p:cNvSpPr/>
          <p:nvPr/>
        </p:nvSpPr>
        <p:spPr>
          <a:xfrm>
            <a:off x="4038601" y="8412198"/>
            <a:ext cx="11734799" cy="109675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DCDF52-65D9-6D4C-2941-F2CCD29B62E3}"/>
              </a:ext>
            </a:extLst>
          </p:cNvPr>
          <p:cNvSpPr/>
          <p:nvPr/>
        </p:nvSpPr>
        <p:spPr>
          <a:xfrm>
            <a:off x="4038600" y="7315446"/>
            <a:ext cx="4455599" cy="109675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2"/>
          <p:cNvSpPr txBox="1"/>
          <p:nvPr/>
        </p:nvSpPr>
        <p:spPr>
          <a:xfrm>
            <a:off x="1028700" y="971550"/>
            <a:ext cx="366920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내용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811781" y="8412198"/>
            <a:ext cx="13578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ore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4840798" y="7059997"/>
            <a:ext cx="2626801" cy="565499"/>
            <a:chOff x="0" y="0"/>
            <a:chExt cx="4114800" cy="75399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114800" cy="753999"/>
              <a:chOff x="0" y="0"/>
              <a:chExt cx="812800" cy="1489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14893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8938">
                    <a:moveTo>
                      <a:pt x="74469" y="0"/>
                    </a:moveTo>
                    <a:lnTo>
                      <a:pt x="738331" y="0"/>
                    </a:lnTo>
                    <a:cubicBezTo>
                      <a:pt x="758081" y="0"/>
                      <a:pt x="777023" y="7846"/>
                      <a:pt x="790988" y="21811"/>
                    </a:cubicBezTo>
                    <a:cubicBezTo>
                      <a:pt x="804954" y="35777"/>
                      <a:pt x="812800" y="54719"/>
                      <a:pt x="812800" y="74469"/>
                    </a:cubicBezTo>
                    <a:lnTo>
                      <a:pt x="812800" y="74469"/>
                    </a:lnTo>
                    <a:cubicBezTo>
                      <a:pt x="812800" y="115597"/>
                      <a:pt x="779459" y="148938"/>
                      <a:pt x="738331" y="148938"/>
                    </a:cubicBezTo>
                    <a:lnTo>
                      <a:pt x="74469" y="148938"/>
                    </a:lnTo>
                    <a:cubicBezTo>
                      <a:pt x="54719" y="148938"/>
                      <a:pt x="35777" y="141092"/>
                      <a:pt x="21811" y="127127"/>
                    </a:cubicBezTo>
                    <a:cubicBezTo>
                      <a:pt x="7846" y="113161"/>
                      <a:pt x="0" y="94219"/>
                      <a:pt x="0" y="74469"/>
                    </a:cubicBezTo>
                    <a:lnTo>
                      <a:pt x="0" y="74469"/>
                    </a:lnTo>
                    <a:cubicBezTo>
                      <a:pt x="0" y="54719"/>
                      <a:pt x="7846" y="35777"/>
                      <a:pt x="21811" y="21811"/>
                    </a:cubicBezTo>
                    <a:cubicBezTo>
                      <a:pt x="35777" y="7846"/>
                      <a:pt x="54719" y="0"/>
                      <a:pt x="7446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ore-KR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812800" cy="1870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922735" y="137816"/>
              <a:ext cx="2269331" cy="447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ko-KR" altLang="en-US" sz="2000" b="1" dirty="0">
                  <a:solidFill>
                    <a:srgbClr val="EBEEF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초기 세션</a:t>
              </a:r>
              <a:endParaRPr lang="en-US" sz="2000" b="1" dirty="0">
                <a:solidFill>
                  <a:srgbClr val="EBEEF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0" y="9226201"/>
            <a:ext cx="2626801" cy="565499"/>
            <a:chOff x="0" y="0"/>
            <a:chExt cx="4114800" cy="753999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114800" cy="753999"/>
              <a:chOff x="0" y="0"/>
              <a:chExt cx="812800" cy="14893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14893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8938">
                    <a:moveTo>
                      <a:pt x="74469" y="0"/>
                    </a:moveTo>
                    <a:lnTo>
                      <a:pt x="738331" y="0"/>
                    </a:lnTo>
                    <a:cubicBezTo>
                      <a:pt x="758081" y="0"/>
                      <a:pt x="777023" y="7846"/>
                      <a:pt x="790988" y="21811"/>
                    </a:cubicBezTo>
                    <a:cubicBezTo>
                      <a:pt x="804954" y="35777"/>
                      <a:pt x="812800" y="54719"/>
                      <a:pt x="812800" y="74469"/>
                    </a:cubicBezTo>
                    <a:lnTo>
                      <a:pt x="812800" y="74469"/>
                    </a:lnTo>
                    <a:cubicBezTo>
                      <a:pt x="812800" y="115597"/>
                      <a:pt x="779459" y="148938"/>
                      <a:pt x="738331" y="148938"/>
                    </a:cubicBezTo>
                    <a:lnTo>
                      <a:pt x="74469" y="148938"/>
                    </a:lnTo>
                    <a:cubicBezTo>
                      <a:pt x="54719" y="148938"/>
                      <a:pt x="35777" y="141092"/>
                      <a:pt x="21811" y="127127"/>
                    </a:cubicBezTo>
                    <a:cubicBezTo>
                      <a:pt x="7846" y="113161"/>
                      <a:pt x="0" y="94219"/>
                      <a:pt x="0" y="74469"/>
                    </a:cubicBezTo>
                    <a:lnTo>
                      <a:pt x="0" y="74469"/>
                    </a:lnTo>
                    <a:cubicBezTo>
                      <a:pt x="0" y="54719"/>
                      <a:pt x="7846" y="35777"/>
                      <a:pt x="21811" y="21811"/>
                    </a:cubicBezTo>
                    <a:cubicBezTo>
                      <a:pt x="35777" y="7846"/>
                      <a:pt x="54719" y="0"/>
                      <a:pt x="7446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ore-KR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12800" cy="1870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017736" y="137816"/>
              <a:ext cx="2079327" cy="447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ko-KR" altLang="en-US" sz="2000" b="1" dirty="0">
                  <a:solidFill>
                    <a:srgbClr val="EBEEF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전체 세션</a:t>
              </a:r>
              <a:endParaRPr lang="en-US" sz="2000" b="1" dirty="0">
                <a:solidFill>
                  <a:srgbClr val="EBEEF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4635A3E-613E-A41D-4657-20E49C85C01E}"/>
              </a:ext>
            </a:extLst>
          </p:cNvPr>
          <p:cNvSpPr txBox="1"/>
          <p:nvPr/>
        </p:nvSpPr>
        <p:spPr>
          <a:xfrm>
            <a:off x="1035050" y="2220319"/>
            <a:ext cx="16633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n-ea"/>
              </a:rPr>
              <a:t>세션 구분의 필요성</a:t>
            </a:r>
            <a:endParaRPr lang="en-US" altLang="ko-KR" sz="3200" b="1" dirty="0">
              <a:latin typeface="+mn-ea"/>
            </a:endParaRPr>
          </a:p>
          <a:p>
            <a:r>
              <a:rPr lang="en-US" altLang="ko-KR" sz="3200" dirty="0">
                <a:latin typeface="+mn-ea"/>
              </a:rPr>
              <a:t>	-</a:t>
            </a:r>
            <a:r>
              <a:rPr lang="ko-KR" altLang="en-US" sz="3200" dirty="0">
                <a:latin typeface="+mn-ea"/>
              </a:rPr>
              <a:t> 단순히 모든 세션의 행동을 일관적으로 학습시키는 것은 고성능을 기대하기 어려움</a:t>
            </a:r>
            <a:endParaRPr lang="en-US" altLang="ko-KR" sz="3200" dirty="0">
              <a:latin typeface="+mn-ea"/>
            </a:endParaRPr>
          </a:p>
          <a:p>
            <a:r>
              <a:rPr lang="en-US" altLang="ko-KR" sz="3200" dirty="0">
                <a:latin typeface="+mn-ea"/>
              </a:rPr>
              <a:t>	-</a:t>
            </a:r>
            <a:r>
              <a:rPr lang="ko-KR" altLang="en-US" sz="3200" dirty="0">
                <a:latin typeface="+mn-ea"/>
              </a:rPr>
              <a:t> 따라서 초기 세션과 전체 세션 분리하여 학습</a:t>
            </a:r>
            <a:endParaRPr lang="en-US" altLang="ko-KR" sz="320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96DCD-F678-2128-FB58-C92EC0F9E030}"/>
              </a:ext>
            </a:extLst>
          </p:cNvPr>
          <p:cNvSpPr txBox="1"/>
          <p:nvPr/>
        </p:nvSpPr>
        <p:spPr>
          <a:xfrm>
            <a:off x="1019384" y="4053324"/>
            <a:ext cx="17243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n-ea"/>
              </a:rPr>
              <a:t>기대효과</a:t>
            </a:r>
            <a:endParaRPr lang="en-US" altLang="ko-KR" sz="3200" b="1" dirty="0">
              <a:latin typeface="+mn-ea"/>
            </a:endParaRPr>
          </a:p>
          <a:p>
            <a:r>
              <a:rPr lang="en-US" altLang="ko-KR" sz="3200" dirty="0">
                <a:latin typeface="+mn-ea"/>
              </a:rPr>
              <a:t>	-</a:t>
            </a:r>
            <a:r>
              <a:rPr lang="ko-KR" altLang="en-US" sz="3200" dirty="0">
                <a:latin typeface="+mn-ea"/>
              </a:rPr>
              <a:t> </a:t>
            </a:r>
            <a:r>
              <a:rPr lang="en-US" altLang="ko-KR" sz="3200" dirty="0">
                <a:latin typeface="+mn-ea"/>
              </a:rPr>
              <a:t>AWS </a:t>
            </a:r>
            <a:r>
              <a:rPr lang="ko-KR" altLang="en-US" sz="3200" dirty="0">
                <a:latin typeface="+mn-ea"/>
              </a:rPr>
              <a:t>클라우드 환경에서 계정 탈취자는 권한 서비스 탐색을 수행</a:t>
            </a:r>
            <a:endParaRPr lang="en-US" altLang="ko-KR" sz="3200" dirty="0">
              <a:latin typeface="+mn-ea"/>
            </a:endParaRPr>
          </a:p>
          <a:p>
            <a:r>
              <a:rPr lang="en-US" altLang="ko-KR" sz="3200" dirty="0">
                <a:latin typeface="+mn-ea"/>
              </a:rPr>
              <a:t>	-</a:t>
            </a:r>
            <a:r>
              <a:rPr lang="ko-KR" altLang="en-US" sz="3200" dirty="0">
                <a:latin typeface="+mn-ea"/>
              </a:rPr>
              <a:t> 따라서 로그인 초기 행동을 전체 세션과 분리하여 분석하여 조기 탐지 및 정확도 증가</a:t>
            </a:r>
            <a:endParaRPr lang="en-US" altLang="ko-KR" sz="3200" dirty="0"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BC2E1A4-60B9-C4A1-87A9-6C735F2A4A42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520952" y="7257716"/>
            <a:ext cx="1511744" cy="11544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41E14D-FF7E-4700-2368-5130EA480A79}"/>
              </a:ext>
            </a:extLst>
          </p:cNvPr>
          <p:cNvSpPr txBox="1"/>
          <p:nvPr/>
        </p:nvSpPr>
        <p:spPr>
          <a:xfrm>
            <a:off x="1016003" y="6549830"/>
            <a:ext cx="3009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사용자의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클라우드 환경으로 진입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2DD043-6B86-955A-9CD8-90F77B86F7E1}"/>
              </a:ext>
            </a:extLst>
          </p:cNvPr>
          <p:cNvSpPr txBox="1"/>
          <p:nvPr/>
        </p:nvSpPr>
        <p:spPr>
          <a:xfrm>
            <a:off x="4621750" y="7782857"/>
            <a:ext cx="336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진입 이후 약 </a:t>
            </a:r>
            <a:r>
              <a:rPr lang="en-US" altLang="ko-KR" sz="2000" b="1" dirty="0"/>
              <a:t>20</a:t>
            </a:r>
            <a:r>
              <a:rPr lang="ko-KR" altLang="en-US" sz="2000" b="1" dirty="0"/>
              <a:t>분 간의 행동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9C034D-0306-9FD3-531B-43D26623B67F}"/>
              </a:ext>
            </a:extLst>
          </p:cNvPr>
          <p:cNvSpPr txBox="1"/>
          <p:nvPr/>
        </p:nvSpPr>
        <p:spPr>
          <a:xfrm>
            <a:off x="7892525" y="8669617"/>
            <a:ext cx="4026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초기 세션을 포함하는 모든 행동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DCF574B-DD43-5E2B-5766-42252CAE179C}"/>
              </a:ext>
            </a:extLst>
          </p:cNvPr>
          <p:cNvSpPr/>
          <p:nvPr/>
        </p:nvSpPr>
        <p:spPr>
          <a:xfrm>
            <a:off x="4038601" y="6361497"/>
            <a:ext cx="11734799" cy="2041606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FC6172-9A71-7036-C0AA-596179596B61}"/>
              </a:ext>
            </a:extLst>
          </p:cNvPr>
          <p:cNvSpPr txBox="1"/>
          <p:nvPr/>
        </p:nvSpPr>
        <p:spPr>
          <a:xfrm>
            <a:off x="8189495" y="6777551"/>
            <a:ext cx="3009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사용자의 행동 타임라인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CB89B11-8598-1002-319C-D4B2B4FA0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500" y="5868033"/>
            <a:ext cx="845799" cy="845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EF79E-6F47-DCEC-504E-D06A7FA8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F7FB138-3F39-4060-5C9B-26DC506EA08F}"/>
              </a:ext>
            </a:extLst>
          </p:cNvPr>
          <p:cNvSpPr txBox="1"/>
          <p:nvPr/>
        </p:nvSpPr>
        <p:spPr>
          <a:xfrm>
            <a:off x="1028700" y="971550"/>
            <a:ext cx="366920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전체 아키텍처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E047159-3708-D917-A4C5-E686DC94BE4B}"/>
              </a:ext>
            </a:extLst>
          </p:cNvPr>
          <p:cNvSpPr/>
          <p:nvPr/>
        </p:nvSpPr>
        <p:spPr>
          <a:xfrm>
            <a:off x="14716125" y="3392126"/>
            <a:ext cx="2581275" cy="91634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F8D0BA-345E-2A04-8075-8D9C8FAD3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938" y="3609974"/>
            <a:ext cx="517268" cy="5172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2D9CB7B-FDEC-CF5E-8A0D-CE794735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172609"/>
            <a:ext cx="1524000" cy="1524000"/>
          </a:xfrm>
          <a:prstGeom prst="rect">
            <a:avLst/>
          </a:prstGeom>
        </p:spPr>
      </p:pic>
      <p:sp>
        <p:nvSpPr>
          <p:cNvPr id="7" name="사각형: 잘린 위쪽 모서리 13">
            <a:extLst>
              <a:ext uri="{FF2B5EF4-FFF2-40B4-BE49-F238E27FC236}">
                <a16:creationId xmlns:a16="http://schemas.microsoft.com/office/drawing/2014/main" id="{F680B784-91C5-EE1B-9892-22D003D1D620}"/>
              </a:ext>
            </a:extLst>
          </p:cNvPr>
          <p:cNvSpPr/>
          <p:nvPr/>
        </p:nvSpPr>
        <p:spPr>
          <a:xfrm rot="16200000">
            <a:off x="1634349" y="3586138"/>
            <a:ext cx="6200775" cy="3619534"/>
          </a:xfrm>
          <a:custGeom>
            <a:avLst/>
            <a:gdLst>
              <a:gd name="connsiteX0" fmla="*/ 2469521 w 6200775"/>
              <a:gd name="connsiteY0" fmla="*/ 0 h 6267450"/>
              <a:gd name="connsiteX1" fmla="*/ 3731254 w 6200775"/>
              <a:gd name="connsiteY1" fmla="*/ 0 h 6267450"/>
              <a:gd name="connsiteX2" fmla="*/ 6200775 w 6200775"/>
              <a:gd name="connsiteY2" fmla="*/ 2469521 h 6267450"/>
              <a:gd name="connsiteX3" fmla="*/ 6200775 w 6200775"/>
              <a:gd name="connsiteY3" fmla="*/ 6267450 h 6267450"/>
              <a:gd name="connsiteX4" fmla="*/ 6200775 w 6200775"/>
              <a:gd name="connsiteY4" fmla="*/ 6267450 h 6267450"/>
              <a:gd name="connsiteX5" fmla="*/ 0 w 6200775"/>
              <a:gd name="connsiteY5" fmla="*/ 6267450 h 6267450"/>
              <a:gd name="connsiteX6" fmla="*/ 0 w 6200775"/>
              <a:gd name="connsiteY6" fmla="*/ 6267450 h 6267450"/>
              <a:gd name="connsiteX7" fmla="*/ 0 w 6200775"/>
              <a:gd name="connsiteY7" fmla="*/ 2469521 h 6267450"/>
              <a:gd name="connsiteX8" fmla="*/ 2469521 w 6200775"/>
              <a:gd name="connsiteY8" fmla="*/ 0 h 6267450"/>
              <a:gd name="connsiteX0" fmla="*/ 2469521 w 6200775"/>
              <a:gd name="connsiteY0" fmla="*/ 0 h 6267450"/>
              <a:gd name="connsiteX1" fmla="*/ 3731254 w 6200775"/>
              <a:gd name="connsiteY1" fmla="*/ 0 h 6267450"/>
              <a:gd name="connsiteX2" fmla="*/ 4981578 w 6200775"/>
              <a:gd name="connsiteY2" fmla="*/ 3041021 h 6267450"/>
              <a:gd name="connsiteX3" fmla="*/ 6200775 w 6200775"/>
              <a:gd name="connsiteY3" fmla="*/ 6267450 h 6267450"/>
              <a:gd name="connsiteX4" fmla="*/ 6200775 w 6200775"/>
              <a:gd name="connsiteY4" fmla="*/ 6267450 h 6267450"/>
              <a:gd name="connsiteX5" fmla="*/ 0 w 6200775"/>
              <a:gd name="connsiteY5" fmla="*/ 6267450 h 6267450"/>
              <a:gd name="connsiteX6" fmla="*/ 0 w 6200775"/>
              <a:gd name="connsiteY6" fmla="*/ 6267450 h 6267450"/>
              <a:gd name="connsiteX7" fmla="*/ 0 w 6200775"/>
              <a:gd name="connsiteY7" fmla="*/ 2469521 h 6267450"/>
              <a:gd name="connsiteX8" fmla="*/ 2469521 w 6200775"/>
              <a:gd name="connsiteY8" fmla="*/ 0 h 6267450"/>
              <a:gd name="connsiteX0" fmla="*/ 2469521 w 6200775"/>
              <a:gd name="connsiteY0" fmla="*/ 0 h 6267450"/>
              <a:gd name="connsiteX1" fmla="*/ 3731254 w 6200775"/>
              <a:gd name="connsiteY1" fmla="*/ 0 h 6267450"/>
              <a:gd name="connsiteX2" fmla="*/ 4981578 w 6200775"/>
              <a:gd name="connsiteY2" fmla="*/ 3041021 h 6267450"/>
              <a:gd name="connsiteX3" fmla="*/ 6200775 w 6200775"/>
              <a:gd name="connsiteY3" fmla="*/ 6267450 h 6267450"/>
              <a:gd name="connsiteX4" fmla="*/ 6200775 w 6200775"/>
              <a:gd name="connsiteY4" fmla="*/ 6267450 h 6267450"/>
              <a:gd name="connsiteX5" fmla="*/ 0 w 6200775"/>
              <a:gd name="connsiteY5" fmla="*/ 6267450 h 6267450"/>
              <a:gd name="connsiteX6" fmla="*/ 0 w 6200775"/>
              <a:gd name="connsiteY6" fmla="*/ 6267450 h 6267450"/>
              <a:gd name="connsiteX7" fmla="*/ 1276350 w 6200775"/>
              <a:gd name="connsiteY7" fmla="*/ 3174374 h 6267450"/>
              <a:gd name="connsiteX8" fmla="*/ 2469521 w 6200775"/>
              <a:gd name="connsiteY8" fmla="*/ 0 h 626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00775" h="6267450">
                <a:moveTo>
                  <a:pt x="2469521" y="0"/>
                </a:moveTo>
                <a:lnTo>
                  <a:pt x="3731254" y="0"/>
                </a:lnTo>
                <a:lnTo>
                  <a:pt x="4981578" y="3041021"/>
                </a:lnTo>
                <a:lnTo>
                  <a:pt x="6200775" y="6267450"/>
                </a:lnTo>
                <a:lnTo>
                  <a:pt x="6200775" y="6267450"/>
                </a:lnTo>
                <a:lnTo>
                  <a:pt x="0" y="6267450"/>
                </a:lnTo>
                <a:lnTo>
                  <a:pt x="0" y="6267450"/>
                </a:lnTo>
                <a:lnTo>
                  <a:pt x="1276350" y="3174374"/>
                </a:lnTo>
                <a:lnTo>
                  <a:pt x="246952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" name="AWS Cloud container" descr="AWS cloud container encapsulating an architecture.">
            <a:extLst>
              <a:ext uri="{FF2B5EF4-FFF2-40B4-BE49-F238E27FC236}">
                <a16:creationId xmlns:a16="http://schemas.microsoft.com/office/drawing/2014/main" id="{17C2E28B-BD17-86FA-C25F-6ADE563E3C75}"/>
              </a:ext>
            </a:extLst>
          </p:cNvPr>
          <p:cNvGrpSpPr/>
          <p:nvPr/>
        </p:nvGrpSpPr>
        <p:grpSpPr>
          <a:xfrm>
            <a:off x="8492069" y="2295522"/>
            <a:ext cx="9338731" cy="6200778"/>
            <a:chOff x="5583649" y="1530349"/>
            <a:chExt cx="5308188" cy="3870326"/>
          </a:xfrm>
        </p:grpSpPr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id="{46ADF509-4612-8004-F24B-6CBD1CFB1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83649" y="1531938"/>
              <a:ext cx="5308188" cy="3868737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52" name="Graphic 18">
              <a:extLst>
                <a:ext uri="{FF2B5EF4-FFF2-40B4-BE49-F238E27FC236}">
                  <a16:creationId xmlns:a16="http://schemas.microsoft.com/office/drawing/2014/main" id="{46790885-58AA-D875-EDF3-41C876B27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588460" y="1530349"/>
              <a:ext cx="192500" cy="224700"/>
            </a:xfrm>
            <a:prstGeom prst="rect">
              <a:avLst/>
            </a:prstGeom>
          </p:spPr>
        </p:pic>
      </p:grpSp>
      <p:sp>
        <p:nvSpPr>
          <p:cNvPr id="9" name="Rectangle 61445">
            <a:extLst>
              <a:ext uri="{FF2B5EF4-FFF2-40B4-BE49-F238E27FC236}">
                <a16:creationId xmlns:a16="http://schemas.microsoft.com/office/drawing/2014/main" id="{431789C2-F54B-DFFC-FB37-B00E68C1FB7A}"/>
              </a:ext>
            </a:extLst>
          </p:cNvPr>
          <p:cNvSpPr/>
          <p:nvPr/>
        </p:nvSpPr>
        <p:spPr>
          <a:xfrm>
            <a:off x="12839700" y="3076573"/>
            <a:ext cx="4655692" cy="141605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E715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account</a:t>
            </a:r>
          </a:p>
        </p:txBody>
      </p:sp>
      <p:pic>
        <p:nvPicPr>
          <p:cNvPr id="10" name="Graphic 61446" descr="AWS account group icon.">
            <a:extLst>
              <a:ext uri="{FF2B5EF4-FFF2-40B4-BE49-F238E27FC236}">
                <a16:creationId xmlns:a16="http://schemas.microsoft.com/office/drawing/2014/main" id="{63A9602F-E221-D216-0E4D-FD2349DE79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839700" y="3076575"/>
            <a:ext cx="399920" cy="360001"/>
          </a:xfrm>
          <a:prstGeom prst="rect">
            <a:avLst/>
          </a:prstGeom>
        </p:spPr>
      </p:pic>
      <p:pic>
        <p:nvPicPr>
          <p:cNvPr id="11" name="그림 67">
            <a:extLst>
              <a:ext uri="{FF2B5EF4-FFF2-40B4-BE49-F238E27FC236}">
                <a16:creationId xmlns:a16="http://schemas.microsoft.com/office/drawing/2014/main" id="{BA68AC00-755B-DBED-E618-9ED86065A2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935200" y="3624453"/>
            <a:ext cx="469351" cy="4693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CFD1D4-51A7-FC2E-8425-6A1A38393F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79999" y="3609973"/>
            <a:ext cx="482051" cy="482051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93EBAAC9-B467-A7EC-AF25-9321E93D4D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237498" y="3609972"/>
            <a:ext cx="482052" cy="4820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AE78C5-184D-4D5B-8FCE-0A609AF4C9DE}"/>
              </a:ext>
            </a:extLst>
          </p:cNvPr>
          <p:cNvSpPr txBox="1"/>
          <p:nvPr/>
        </p:nvSpPr>
        <p:spPr>
          <a:xfrm>
            <a:off x="16816833" y="3624453"/>
            <a:ext cx="678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...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3EA826F-14E4-020E-6081-5D71856A2EDE}"/>
              </a:ext>
            </a:extLst>
          </p:cNvPr>
          <p:cNvCxnSpPr>
            <a:cxnSpLocks/>
          </p:cNvCxnSpPr>
          <p:nvPr/>
        </p:nvCxnSpPr>
        <p:spPr>
          <a:xfrm flipV="1">
            <a:off x="13716000" y="3850300"/>
            <a:ext cx="8825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0A7E46-CA97-9204-E33A-4DD9EFDCC547}"/>
              </a:ext>
            </a:extLst>
          </p:cNvPr>
          <p:cNvSpPr/>
          <p:nvPr/>
        </p:nvSpPr>
        <p:spPr>
          <a:xfrm>
            <a:off x="14716125" y="5082814"/>
            <a:ext cx="2581275" cy="91634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BF0A1A-CC6A-2179-C299-4CCE2CF1C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938" y="5291182"/>
            <a:ext cx="517268" cy="517268"/>
          </a:xfrm>
          <a:prstGeom prst="rect">
            <a:avLst/>
          </a:prstGeom>
        </p:spPr>
      </p:pic>
      <p:sp>
        <p:nvSpPr>
          <p:cNvPr id="18" name="Rectangle 61445">
            <a:extLst>
              <a:ext uri="{FF2B5EF4-FFF2-40B4-BE49-F238E27FC236}">
                <a16:creationId xmlns:a16="http://schemas.microsoft.com/office/drawing/2014/main" id="{D0F064A2-CA3C-E0DE-3DAD-DA286C4EEBCD}"/>
              </a:ext>
            </a:extLst>
          </p:cNvPr>
          <p:cNvSpPr/>
          <p:nvPr/>
        </p:nvSpPr>
        <p:spPr>
          <a:xfrm>
            <a:off x="12839700" y="4767261"/>
            <a:ext cx="4655692" cy="141605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E715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account</a:t>
            </a:r>
          </a:p>
        </p:txBody>
      </p:sp>
      <p:pic>
        <p:nvPicPr>
          <p:cNvPr id="19" name="Graphic 61446" descr="AWS account group icon.">
            <a:extLst>
              <a:ext uri="{FF2B5EF4-FFF2-40B4-BE49-F238E27FC236}">
                <a16:creationId xmlns:a16="http://schemas.microsoft.com/office/drawing/2014/main" id="{64B97A33-BF6C-2431-7399-760791885E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839700" y="4767263"/>
            <a:ext cx="399920" cy="360001"/>
          </a:xfrm>
          <a:prstGeom prst="rect">
            <a:avLst/>
          </a:prstGeom>
        </p:spPr>
      </p:pic>
      <p:pic>
        <p:nvPicPr>
          <p:cNvPr id="20" name="그림 67">
            <a:extLst>
              <a:ext uri="{FF2B5EF4-FFF2-40B4-BE49-F238E27FC236}">
                <a16:creationId xmlns:a16="http://schemas.microsoft.com/office/drawing/2014/main" id="{B532ED5B-C68E-C8C1-030D-F5675B5450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935200" y="5315141"/>
            <a:ext cx="469351" cy="46935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4A36559-8064-1927-E3AA-8016C9A507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79999" y="5300661"/>
            <a:ext cx="482051" cy="482051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23D0918C-84AE-91F9-C8D2-01B36C34FA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237498" y="5300660"/>
            <a:ext cx="482052" cy="48205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860188-D6A2-FF36-856F-D4BD6319572D}"/>
              </a:ext>
            </a:extLst>
          </p:cNvPr>
          <p:cNvSpPr txBox="1"/>
          <p:nvPr/>
        </p:nvSpPr>
        <p:spPr>
          <a:xfrm>
            <a:off x="16816833" y="5315141"/>
            <a:ext cx="678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...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038F1C2-2F59-0652-DB54-A3B08C51E08D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13740877" y="5540988"/>
            <a:ext cx="882577" cy="88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3D39FE0-35E8-DC09-DA01-11B82C3C7C9F}"/>
              </a:ext>
            </a:extLst>
          </p:cNvPr>
          <p:cNvSpPr/>
          <p:nvPr/>
        </p:nvSpPr>
        <p:spPr>
          <a:xfrm>
            <a:off x="14716125" y="6776677"/>
            <a:ext cx="2581275" cy="91634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0EE9EFA-BCA3-BC35-2D7F-2EEA3676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938" y="6985045"/>
            <a:ext cx="517268" cy="517268"/>
          </a:xfrm>
          <a:prstGeom prst="rect">
            <a:avLst/>
          </a:prstGeom>
        </p:spPr>
      </p:pic>
      <p:sp>
        <p:nvSpPr>
          <p:cNvPr id="27" name="Rectangle 61445">
            <a:extLst>
              <a:ext uri="{FF2B5EF4-FFF2-40B4-BE49-F238E27FC236}">
                <a16:creationId xmlns:a16="http://schemas.microsoft.com/office/drawing/2014/main" id="{EBEB9851-E6EB-999E-6674-63F1B6CCD466}"/>
              </a:ext>
            </a:extLst>
          </p:cNvPr>
          <p:cNvSpPr/>
          <p:nvPr/>
        </p:nvSpPr>
        <p:spPr>
          <a:xfrm>
            <a:off x="12839700" y="6461124"/>
            <a:ext cx="4655692" cy="141605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E715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account</a:t>
            </a:r>
          </a:p>
        </p:txBody>
      </p:sp>
      <p:pic>
        <p:nvPicPr>
          <p:cNvPr id="28" name="Graphic 61446" descr="AWS account group icon.">
            <a:extLst>
              <a:ext uri="{FF2B5EF4-FFF2-40B4-BE49-F238E27FC236}">
                <a16:creationId xmlns:a16="http://schemas.microsoft.com/office/drawing/2014/main" id="{FEA53E09-866B-9A3A-6765-398D7FFE1C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839700" y="6461126"/>
            <a:ext cx="399920" cy="360001"/>
          </a:xfrm>
          <a:prstGeom prst="rect">
            <a:avLst/>
          </a:prstGeom>
        </p:spPr>
      </p:pic>
      <p:pic>
        <p:nvPicPr>
          <p:cNvPr id="29" name="그림 67">
            <a:extLst>
              <a:ext uri="{FF2B5EF4-FFF2-40B4-BE49-F238E27FC236}">
                <a16:creationId xmlns:a16="http://schemas.microsoft.com/office/drawing/2014/main" id="{0B97565B-E8D5-D318-8397-8F7EAE9D1C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935200" y="7009004"/>
            <a:ext cx="469351" cy="46935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714986B-E26D-432E-39FF-92AF980F75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79999" y="6994524"/>
            <a:ext cx="482051" cy="482051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6BFF9224-8517-BA24-D552-AE14B475F7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237498" y="6994523"/>
            <a:ext cx="482052" cy="48205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74190AB-C768-78C6-E973-A28250494121}"/>
              </a:ext>
            </a:extLst>
          </p:cNvPr>
          <p:cNvSpPr txBox="1"/>
          <p:nvPr/>
        </p:nvSpPr>
        <p:spPr>
          <a:xfrm>
            <a:off x="16816833" y="7009004"/>
            <a:ext cx="678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...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4CBAB19-F3F1-F43F-5A05-74AC19B6A33B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 flipV="1">
            <a:off x="13740877" y="7234851"/>
            <a:ext cx="882577" cy="88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E7C10B-F222-B975-D81B-D101F85049D8}"/>
              </a:ext>
            </a:extLst>
          </p:cNvPr>
          <p:cNvSpPr/>
          <p:nvPr/>
        </p:nvSpPr>
        <p:spPr>
          <a:xfrm>
            <a:off x="8930904" y="3392126"/>
            <a:ext cx="2544391" cy="43008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91874C-2507-C82D-3049-0B54FC370D94}"/>
              </a:ext>
            </a:extLst>
          </p:cNvPr>
          <p:cNvSpPr txBox="1"/>
          <p:nvPr/>
        </p:nvSpPr>
        <p:spPr>
          <a:xfrm>
            <a:off x="8915400" y="3457574"/>
            <a:ext cx="2544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UEBA</a:t>
            </a:r>
            <a:endParaRPr lang="ko-KR" altLang="en-US" b="1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A6FB5E-FD7A-C26A-B5CD-9218EF2153F8}"/>
              </a:ext>
            </a:extLst>
          </p:cNvPr>
          <p:cNvSpPr/>
          <p:nvPr/>
        </p:nvSpPr>
        <p:spPr>
          <a:xfrm>
            <a:off x="9078254" y="3915395"/>
            <a:ext cx="22496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collection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7CE0728-5503-E1E0-66B2-F6B12DEDFF57}"/>
              </a:ext>
            </a:extLst>
          </p:cNvPr>
          <p:cNvSpPr/>
          <p:nvPr/>
        </p:nvSpPr>
        <p:spPr>
          <a:xfrm>
            <a:off x="9065631" y="5480791"/>
            <a:ext cx="22496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Anomaly Detection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61339D1-3440-76F3-478D-F4AB64FF23D6}"/>
              </a:ext>
            </a:extLst>
          </p:cNvPr>
          <p:cNvSpPr/>
          <p:nvPr/>
        </p:nvSpPr>
        <p:spPr>
          <a:xfrm>
            <a:off x="9078885" y="4698093"/>
            <a:ext cx="22496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Profiling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2A24658-0720-3FD8-7AE8-8D4E668D57D5}"/>
              </a:ext>
            </a:extLst>
          </p:cNvPr>
          <p:cNvSpPr/>
          <p:nvPr/>
        </p:nvSpPr>
        <p:spPr>
          <a:xfrm>
            <a:off x="9070049" y="6263490"/>
            <a:ext cx="22496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Risk Scoring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80AF97A-7AAB-D792-A47A-458391002C24}"/>
              </a:ext>
            </a:extLst>
          </p:cNvPr>
          <p:cNvSpPr/>
          <p:nvPr/>
        </p:nvSpPr>
        <p:spPr>
          <a:xfrm>
            <a:off x="9077360" y="7046189"/>
            <a:ext cx="22496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Remediation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22432AD-C6CB-4643-F40D-9EA93ADE4706}"/>
              </a:ext>
            </a:extLst>
          </p:cNvPr>
          <p:cNvCxnSpPr>
            <a:stCxn id="36" idx="3"/>
            <a:endCxn id="9" idx="1"/>
          </p:cNvCxnSpPr>
          <p:nvPr/>
        </p:nvCxnSpPr>
        <p:spPr>
          <a:xfrm flipV="1">
            <a:off x="11327944" y="3784598"/>
            <a:ext cx="1511756" cy="315463"/>
          </a:xfrm>
          <a:prstGeom prst="bentConnector3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F2E66E8-7C86-468C-CCC5-F10F584DC34E}"/>
              </a:ext>
            </a:extLst>
          </p:cNvPr>
          <p:cNvCxnSpPr>
            <a:cxnSpLocks/>
            <a:stCxn id="36" idx="3"/>
            <a:endCxn id="27" idx="1"/>
          </p:cNvCxnSpPr>
          <p:nvPr/>
        </p:nvCxnSpPr>
        <p:spPr>
          <a:xfrm>
            <a:off x="11327944" y="4100061"/>
            <a:ext cx="1511756" cy="3069088"/>
          </a:xfrm>
          <a:prstGeom prst="bentConnector3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024AD2C9-3370-1C09-8723-C4DB4AB25650}"/>
              </a:ext>
            </a:extLst>
          </p:cNvPr>
          <p:cNvCxnSpPr>
            <a:cxnSpLocks/>
            <a:stCxn id="36" idx="3"/>
            <a:endCxn id="18" idx="1"/>
          </p:cNvCxnSpPr>
          <p:nvPr/>
        </p:nvCxnSpPr>
        <p:spPr>
          <a:xfrm>
            <a:off x="11327944" y="4100061"/>
            <a:ext cx="1511756" cy="1375225"/>
          </a:xfrm>
          <a:prstGeom prst="bentConnector3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B671F0A-CE51-9B06-32E4-76B85F64D276}"/>
              </a:ext>
            </a:extLst>
          </p:cNvPr>
          <p:cNvCxnSpPr>
            <a:stCxn id="36" idx="2"/>
            <a:endCxn id="38" idx="0"/>
          </p:cNvCxnSpPr>
          <p:nvPr/>
        </p:nvCxnSpPr>
        <p:spPr>
          <a:xfrm>
            <a:off x="10203099" y="4284727"/>
            <a:ext cx="631" cy="413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A54054D-1FEB-2147-D0A3-E5E517D3CD51}"/>
              </a:ext>
            </a:extLst>
          </p:cNvPr>
          <p:cNvCxnSpPr/>
          <p:nvPr/>
        </p:nvCxnSpPr>
        <p:spPr>
          <a:xfrm>
            <a:off x="10187595" y="5838394"/>
            <a:ext cx="631" cy="413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304C773-C200-C3E5-61C7-19E7EB08BAE2}"/>
              </a:ext>
            </a:extLst>
          </p:cNvPr>
          <p:cNvCxnSpPr/>
          <p:nvPr/>
        </p:nvCxnSpPr>
        <p:spPr>
          <a:xfrm>
            <a:off x="10189790" y="5073972"/>
            <a:ext cx="631" cy="413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3CDAC66-731E-23CF-C6A9-A08D3EE610C4}"/>
              </a:ext>
            </a:extLst>
          </p:cNvPr>
          <p:cNvCxnSpPr/>
          <p:nvPr/>
        </p:nvCxnSpPr>
        <p:spPr>
          <a:xfrm>
            <a:off x="10187595" y="6632872"/>
            <a:ext cx="631" cy="413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E8B67849-A16E-3732-B37F-D38C42C8B2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2175221" y="4633911"/>
            <a:ext cx="1524000" cy="1524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1818131F-B3A9-6B4D-E1A6-11F83211D24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0768" y="4308474"/>
            <a:ext cx="2390287" cy="1955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83D2FDF-6465-7349-2FDB-C5EE9E860635}"/>
              </a:ext>
            </a:extLst>
          </p:cNvPr>
          <p:cNvCxnSpPr>
            <a:cxnSpLocks/>
            <a:stCxn id="34" idx="1"/>
            <a:endCxn id="61" idx="3"/>
          </p:cNvCxnSpPr>
          <p:nvPr/>
        </p:nvCxnSpPr>
        <p:spPr>
          <a:xfrm flipH="1">
            <a:off x="7806041" y="5542576"/>
            <a:ext cx="112486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17">
            <a:extLst>
              <a:ext uri="{FF2B5EF4-FFF2-40B4-BE49-F238E27FC236}">
                <a16:creationId xmlns:a16="http://schemas.microsoft.com/office/drawing/2014/main" id="{FD058D61-6471-6CD9-698C-C0AD33B5E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44503" y="2295518"/>
            <a:ext cx="1573642" cy="6198232"/>
          </a:xfrm>
          <a:prstGeom prst="rect">
            <a:avLst/>
          </a:prstGeom>
          <a:noFill/>
          <a:ln w="158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93F11-2821-8047-4F0A-8C501602FA8F}"/>
              </a:ext>
            </a:extLst>
          </p:cNvPr>
          <p:cNvSpPr txBox="1"/>
          <p:nvPr/>
        </p:nvSpPr>
        <p:spPr>
          <a:xfrm>
            <a:off x="6531803" y="2329667"/>
            <a:ext cx="1573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Web Service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92CB19D9-6610-C3B8-A20C-C36211C624C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0" y="5076380"/>
            <a:ext cx="948041" cy="948041"/>
          </a:xfrm>
          <a:prstGeom prst="rect">
            <a:avLst/>
          </a:prstGeom>
        </p:spPr>
      </p:pic>
      <p:pic>
        <p:nvPicPr>
          <p:cNvPr id="3074" name="Picture 2" descr="DB] 2. Database System Concepts and Architecture">
            <a:extLst>
              <a:ext uri="{FF2B5EF4-FFF2-40B4-BE49-F238E27FC236}">
                <a16:creationId xmlns:a16="http://schemas.microsoft.com/office/drawing/2014/main" id="{6791BB1E-354F-4B47-91DA-332612A169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14" t="24650" r="34313" b="27649"/>
          <a:stretch>
            <a:fillRect/>
          </a:stretch>
        </p:blipFill>
        <p:spPr bwMode="auto">
          <a:xfrm>
            <a:off x="7018611" y="7145198"/>
            <a:ext cx="610989" cy="72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73" name="직선 화살표 연결선 3072">
            <a:extLst>
              <a:ext uri="{FF2B5EF4-FFF2-40B4-BE49-F238E27FC236}">
                <a16:creationId xmlns:a16="http://schemas.microsoft.com/office/drawing/2014/main" id="{262140AF-7B88-65B2-910B-63034CBCF2E4}"/>
              </a:ext>
            </a:extLst>
          </p:cNvPr>
          <p:cNvCxnSpPr/>
          <p:nvPr/>
        </p:nvCxnSpPr>
        <p:spPr>
          <a:xfrm>
            <a:off x="7318624" y="6688898"/>
            <a:ext cx="0" cy="42796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75" name="TextBox 3074">
            <a:extLst>
              <a:ext uri="{FF2B5EF4-FFF2-40B4-BE49-F238E27FC236}">
                <a16:creationId xmlns:a16="http://schemas.microsoft.com/office/drawing/2014/main" id="{7AB09C11-6C58-FDFD-9EB0-9C796EF2A0C5}"/>
              </a:ext>
            </a:extLst>
          </p:cNvPr>
          <p:cNvSpPr txBox="1"/>
          <p:nvPr/>
        </p:nvSpPr>
        <p:spPr>
          <a:xfrm>
            <a:off x="6757718" y="7898368"/>
            <a:ext cx="112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DB</a:t>
            </a:r>
            <a:endParaRPr lang="ko-KR" altLang="en-US" b="1" dirty="0"/>
          </a:p>
        </p:txBody>
      </p:sp>
      <p:sp>
        <p:nvSpPr>
          <p:cNvPr id="3076" name="TextBox 3075">
            <a:extLst>
              <a:ext uri="{FF2B5EF4-FFF2-40B4-BE49-F238E27FC236}">
                <a16:creationId xmlns:a16="http://schemas.microsoft.com/office/drawing/2014/main" id="{4A9D23A1-D75A-7B1B-F47F-50556352F6FD}"/>
              </a:ext>
            </a:extLst>
          </p:cNvPr>
          <p:cNvSpPr txBox="1"/>
          <p:nvPr/>
        </p:nvSpPr>
        <p:spPr>
          <a:xfrm>
            <a:off x="6629400" y="6033644"/>
            <a:ext cx="1347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Application</a:t>
            </a:r>
          </a:p>
          <a:p>
            <a:pPr algn="ctr"/>
            <a:r>
              <a:rPr lang="en-US" altLang="ko-KR" b="1" dirty="0"/>
              <a:t>Server</a:t>
            </a:r>
            <a:endParaRPr lang="ko-KR" altLang="en-US" b="1" dirty="0"/>
          </a:p>
        </p:txBody>
      </p:sp>
      <p:pic>
        <p:nvPicPr>
          <p:cNvPr id="3078" name="그림 3077">
            <a:extLst>
              <a:ext uri="{FF2B5EF4-FFF2-40B4-BE49-F238E27FC236}">
                <a16:creationId xmlns:a16="http://schemas.microsoft.com/office/drawing/2014/main" id="{2E7F50C3-75E4-EF7A-55F1-13AA050661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45127" y="2781300"/>
            <a:ext cx="948041" cy="948041"/>
          </a:xfrm>
          <a:prstGeom prst="rect">
            <a:avLst/>
          </a:prstGeom>
        </p:spPr>
      </p:pic>
      <p:cxnSp>
        <p:nvCxnSpPr>
          <p:cNvPr id="3079" name="직선 화살표 연결선 3078">
            <a:extLst>
              <a:ext uri="{FF2B5EF4-FFF2-40B4-BE49-F238E27FC236}">
                <a16:creationId xmlns:a16="http://schemas.microsoft.com/office/drawing/2014/main" id="{7480E4BA-8348-611D-EDE4-28FEA95D3C49}"/>
              </a:ext>
            </a:extLst>
          </p:cNvPr>
          <p:cNvCxnSpPr/>
          <p:nvPr/>
        </p:nvCxnSpPr>
        <p:spPr>
          <a:xfrm>
            <a:off x="7331324" y="4442790"/>
            <a:ext cx="0" cy="56962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80" name="TextBox 3079">
            <a:extLst>
              <a:ext uri="{FF2B5EF4-FFF2-40B4-BE49-F238E27FC236}">
                <a16:creationId xmlns:a16="http://schemas.microsoft.com/office/drawing/2014/main" id="{AEC8FDF1-DC64-0509-D63D-C510D9EAEE99}"/>
              </a:ext>
            </a:extLst>
          </p:cNvPr>
          <p:cNvSpPr txBox="1"/>
          <p:nvPr/>
        </p:nvSpPr>
        <p:spPr>
          <a:xfrm>
            <a:off x="6629400" y="3695700"/>
            <a:ext cx="1347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Web</a:t>
            </a:r>
            <a:br>
              <a:rPr lang="en-US" altLang="ko-KR" b="1" dirty="0"/>
            </a:br>
            <a:r>
              <a:rPr lang="en-US" altLang="ko-KR" b="1" dirty="0"/>
              <a:t>Server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451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B7DFF-298F-5E6E-B84A-23310B6C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3A4FE5B-DDBC-BD56-92A2-58A722F2B4DC}"/>
              </a:ext>
            </a:extLst>
          </p:cNvPr>
          <p:cNvSpPr txBox="1"/>
          <p:nvPr/>
        </p:nvSpPr>
        <p:spPr>
          <a:xfrm>
            <a:off x="1028700" y="971550"/>
            <a:ext cx="366920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결과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14" name="그림 50" descr="텍스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A59DC0-9B53-CCE4-1F14-8211B8D78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176" y="2050152"/>
            <a:ext cx="5779572" cy="491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52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7B541E-0B7C-515F-00F4-564559845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252" y="2007450"/>
            <a:ext cx="5779572" cy="492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5DC06C1-F23E-9A49-1649-0924741C82D9}"/>
              </a:ext>
            </a:extLst>
          </p:cNvPr>
          <p:cNvSpPr txBox="1"/>
          <p:nvPr/>
        </p:nvSpPr>
        <p:spPr>
          <a:xfrm>
            <a:off x="2427150" y="6965368"/>
            <a:ext cx="533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전체 세션과 공격 데이터</a:t>
            </a:r>
            <a:r>
              <a:rPr kumimoji="1" lang="en-US" altLang="ko-KR" sz="2400" dirty="0"/>
              <a:t> </a:t>
            </a:r>
            <a:r>
              <a:rPr kumimoji="1" lang="ko-KR" altLang="en-US" sz="2400" dirty="0" err="1"/>
              <a:t>임베딩</a:t>
            </a:r>
            <a:r>
              <a:rPr kumimoji="1" lang="ko-KR" altLang="en-US" sz="2400" dirty="0"/>
              <a:t> 결과</a:t>
            </a:r>
            <a:endParaRPr kumimoji="1" lang="ko-Kore-KR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7CFF71-F824-D782-92D0-9DAAA43C4B33}"/>
              </a:ext>
            </a:extLst>
          </p:cNvPr>
          <p:cNvSpPr txBox="1"/>
          <p:nvPr/>
        </p:nvSpPr>
        <p:spPr>
          <a:xfrm>
            <a:off x="10523226" y="6988301"/>
            <a:ext cx="533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초기 세션과 공격 데이터</a:t>
            </a:r>
            <a:r>
              <a:rPr kumimoji="1" lang="en-US" altLang="ko-KR" sz="2400" dirty="0"/>
              <a:t> </a:t>
            </a:r>
            <a:r>
              <a:rPr kumimoji="1" lang="ko-KR" altLang="en-US" sz="2400" dirty="0" err="1"/>
              <a:t>임베딩</a:t>
            </a:r>
            <a:r>
              <a:rPr kumimoji="1" lang="ko-KR" altLang="en-US" sz="2400" dirty="0"/>
              <a:t> 결과</a:t>
            </a:r>
            <a:endParaRPr kumimoji="1" lang="ko-Kore-KR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63A60-DF03-753F-7D8B-97CB9D1CEE9A}"/>
              </a:ext>
            </a:extLst>
          </p:cNvPr>
          <p:cNvSpPr txBox="1"/>
          <p:nvPr/>
        </p:nvSpPr>
        <p:spPr>
          <a:xfrm>
            <a:off x="2206176" y="8204844"/>
            <a:ext cx="150912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b="1" dirty="0"/>
              <a:t>-</a:t>
            </a:r>
            <a:r>
              <a:rPr kumimoji="1" lang="ko-KR" altLang="en-US" sz="3200" b="1" dirty="0"/>
              <a:t> 정상 행동은 유사한 패턴을 공유해 한 공간에 밀집되어 있음</a:t>
            </a:r>
            <a:endParaRPr kumimoji="1" lang="en-US" altLang="ko-KR" sz="3200" b="1" dirty="0"/>
          </a:p>
          <a:p>
            <a:r>
              <a:rPr kumimoji="1" lang="en-US" altLang="ko-KR" sz="3200" b="1" dirty="0"/>
              <a:t>-</a:t>
            </a:r>
            <a:r>
              <a:rPr kumimoji="1" lang="ko-KR" altLang="en-US" sz="3200" b="1" dirty="0"/>
              <a:t> 공격 행위 또한 밀집된 부분이 존재하지만 상대적으로 흩어짐</a:t>
            </a:r>
            <a:endParaRPr kumimoji="1" lang="en-US" altLang="ko-KR" sz="3200" b="1" dirty="0"/>
          </a:p>
          <a:p>
            <a:r>
              <a:rPr kumimoji="1" lang="en-US" altLang="ko-Kore-KR" sz="3200" b="1" dirty="0"/>
              <a:t>-</a:t>
            </a:r>
            <a:r>
              <a:rPr kumimoji="1" lang="en-US" altLang="ko-KR" sz="3200" b="1" dirty="0"/>
              <a:t>&gt;</a:t>
            </a:r>
            <a:r>
              <a:rPr kumimoji="1" lang="ko-KR" altLang="en-US" sz="3200" b="1" dirty="0"/>
              <a:t> 모델이 정상 데이터와 공격 데이터를 효과적으로 구분할 수 있는 표현 공간 학습</a:t>
            </a:r>
            <a:endParaRPr kumimoji="1" lang="ko-Kore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6392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BED09-9608-9B86-435F-7601EC99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43DFC3-CE18-2AD7-17CA-983A2D1150B0}"/>
              </a:ext>
            </a:extLst>
          </p:cNvPr>
          <p:cNvSpPr txBox="1"/>
          <p:nvPr/>
        </p:nvSpPr>
        <p:spPr>
          <a:xfrm>
            <a:off x="1028700" y="971550"/>
            <a:ext cx="366920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연구 결과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3" name="그림 2" descr="텍스트, 지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43CA9-32E2-6844-5096-8E6D46C4C2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49725"/>
            <a:ext cx="4168368" cy="3107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4512C7-ECCB-095E-15B6-A065B085D0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932" y="2049725"/>
            <a:ext cx="3626940" cy="310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BFEC68-D4B7-AB96-F9C2-ACE07DEBBC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52" y="6286500"/>
            <a:ext cx="4382836" cy="266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14C121-A3DC-3145-E76A-6B04A8735B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00" y="6286500"/>
            <a:ext cx="3183072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B9113F-27E5-2675-29BD-C3E0D3C0CD24}"/>
              </a:ext>
            </a:extLst>
          </p:cNvPr>
          <p:cNvSpPr txBox="1"/>
          <p:nvPr/>
        </p:nvSpPr>
        <p:spPr>
          <a:xfrm>
            <a:off x="4343400" y="5465949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전체 세션 모델링</a:t>
            </a:r>
            <a:endParaRPr kumimoji="1" lang="ko-Kore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8E54-C49F-99A5-7BDC-7463C460A25D}"/>
              </a:ext>
            </a:extLst>
          </p:cNvPr>
          <p:cNvSpPr txBox="1"/>
          <p:nvPr/>
        </p:nvSpPr>
        <p:spPr>
          <a:xfrm>
            <a:off x="10668000" y="9283433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/>
              <a:t>초기 세션 모델링</a:t>
            </a:r>
            <a:endParaRPr kumimoji="1" lang="ko-Kore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AA706-4C73-90D4-82FE-C8E70C78E28F}"/>
              </a:ext>
            </a:extLst>
          </p:cNvPr>
          <p:cNvSpPr txBox="1"/>
          <p:nvPr/>
        </p:nvSpPr>
        <p:spPr>
          <a:xfrm>
            <a:off x="1492560" y="7204501"/>
            <a:ext cx="5715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3200" b="1" dirty="0"/>
              <a:t>초기 세션을 분리하여 모델링 하는 것이 효과적임을 증명</a:t>
            </a:r>
            <a:endParaRPr kumimoji="1" lang="ko-Kore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46593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720142" y="5193258"/>
            <a:ext cx="5756400" cy="125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81"/>
              </a:lnSpc>
              <a:spcBef>
                <a:spcPct val="0"/>
              </a:spcBef>
            </a:pPr>
            <a:r>
              <a:rPr lang="en-US" sz="7486" b="1">
                <a:solidFill>
                  <a:srgbClr val="EBEEF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914E-74A9-878B-6238-47F2E7AF1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06617F4-F9A6-BBAA-BE1B-77FEA3390B2C}"/>
              </a:ext>
            </a:extLst>
          </p:cNvPr>
          <p:cNvSpPr txBox="1"/>
          <p:nvPr/>
        </p:nvSpPr>
        <p:spPr>
          <a:xfrm>
            <a:off x="1028700" y="971550"/>
            <a:ext cx="366920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ko-KR" altLang="en-US" sz="4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전체 아키텍처</a:t>
            </a:r>
            <a:endParaRPr lang="en-US" sz="400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5CB2398-F8CB-FD40-0CCC-C8F00135E902}"/>
              </a:ext>
            </a:extLst>
          </p:cNvPr>
          <p:cNvGrpSpPr/>
          <p:nvPr/>
        </p:nvGrpSpPr>
        <p:grpSpPr>
          <a:xfrm>
            <a:off x="1037432" y="2295522"/>
            <a:ext cx="16488566" cy="6200778"/>
            <a:chOff x="1037432" y="1695448"/>
            <a:chExt cx="16488566" cy="6200778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3A5FB6D-8414-47F6-D32F-B46D971D7122}"/>
                </a:ext>
              </a:extLst>
            </p:cNvPr>
            <p:cNvSpPr/>
            <p:nvPr/>
          </p:nvSpPr>
          <p:spPr>
            <a:xfrm>
              <a:off x="14487525" y="2792052"/>
              <a:ext cx="2581275" cy="91634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6178801-4F47-7A30-8875-B5486B423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2338" y="3009900"/>
              <a:ext cx="517268" cy="51726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F29A25-39CA-83EA-A63F-D3B4276A7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7432" y="4572535"/>
              <a:ext cx="1524000" cy="1524000"/>
            </a:xfrm>
            <a:prstGeom prst="rect">
              <a:avLst/>
            </a:prstGeom>
          </p:spPr>
        </p:pic>
        <p:sp>
          <p:nvSpPr>
            <p:cNvPr id="7" name="사각형: 잘린 위쪽 모서리 13">
              <a:extLst>
                <a:ext uri="{FF2B5EF4-FFF2-40B4-BE49-F238E27FC236}">
                  <a16:creationId xmlns:a16="http://schemas.microsoft.com/office/drawing/2014/main" id="{64CE2D63-E0C4-7D5D-4F71-2CA98E007629}"/>
                </a:ext>
              </a:extLst>
            </p:cNvPr>
            <p:cNvSpPr/>
            <p:nvPr/>
          </p:nvSpPr>
          <p:spPr>
            <a:xfrm rot="16200000">
              <a:off x="2500313" y="2547936"/>
              <a:ext cx="6200775" cy="4495799"/>
            </a:xfrm>
            <a:custGeom>
              <a:avLst/>
              <a:gdLst>
                <a:gd name="connsiteX0" fmla="*/ 2469521 w 6200775"/>
                <a:gd name="connsiteY0" fmla="*/ 0 h 6267450"/>
                <a:gd name="connsiteX1" fmla="*/ 3731254 w 6200775"/>
                <a:gd name="connsiteY1" fmla="*/ 0 h 6267450"/>
                <a:gd name="connsiteX2" fmla="*/ 6200775 w 6200775"/>
                <a:gd name="connsiteY2" fmla="*/ 2469521 h 6267450"/>
                <a:gd name="connsiteX3" fmla="*/ 6200775 w 6200775"/>
                <a:gd name="connsiteY3" fmla="*/ 6267450 h 6267450"/>
                <a:gd name="connsiteX4" fmla="*/ 6200775 w 6200775"/>
                <a:gd name="connsiteY4" fmla="*/ 6267450 h 6267450"/>
                <a:gd name="connsiteX5" fmla="*/ 0 w 6200775"/>
                <a:gd name="connsiteY5" fmla="*/ 6267450 h 6267450"/>
                <a:gd name="connsiteX6" fmla="*/ 0 w 6200775"/>
                <a:gd name="connsiteY6" fmla="*/ 6267450 h 6267450"/>
                <a:gd name="connsiteX7" fmla="*/ 0 w 6200775"/>
                <a:gd name="connsiteY7" fmla="*/ 2469521 h 6267450"/>
                <a:gd name="connsiteX8" fmla="*/ 2469521 w 6200775"/>
                <a:gd name="connsiteY8" fmla="*/ 0 h 6267450"/>
                <a:gd name="connsiteX0" fmla="*/ 2469521 w 6200775"/>
                <a:gd name="connsiteY0" fmla="*/ 0 h 6267450"/>
                <a:gd name="connsiteX1" fmla="*/ 3731254 w 6200775"/>
                <a:gd name="connsiteY1" fmla="*/ 0 h 6267450"/>
                <a:gd name="connsiteX2" fmla="*/ 4981578 w 6200775"/>
                <a:gd name="connsiteY2" fmla="*/ 3041021 h 6267450"/>
                <a:gd name="connsiteX3" fmla="*/ 6200775 w 6200775"/>
                <a:gd name="connsiteY3" fmla="*/ 6267450 h 6267450"/>
                <a:gd name="connsiteX4" fmla="*/ 6200775 w 6200775"/>
                <a:gd name="connsiteY4" fmla="*/ 6267450 h 6267450"/>
                <a:gd name="connsiteX5" fmla="*/ 0 w 6200775"/>
                <a:gd name="connsiteY5" fmla="*/ 6267450 h 6267450"/>
                <a:gd name="connsiteX6" fmla="*/ 0 w 6200775"/>
                <a:gd name="connsiteY6" fmla="*/ 6267450 h 6267450"/>
                <a:gd name="connsiteX7" fmla="*/ 0 w 6200775"/>
                <a:gd name="connsiteY7" fmla="*/ 2469521 h 6267450"/>
                <a:gd name="connsiteX8" fmla="*/ 2469521 w 6200775"/>
                <a:gd name="connsiteY8" fmla="*/ 0 h 6267450"/>
                <a:gd name="connsiteX0" fmla="*/ 2469521 w 6200775"/>
                <a:gd name="connsiteY0" fmla="*/ 0 h 6267450"/>
                <a:gd name="connsiteX1" fmla="*/ 3731254 w 6200775"/>
                <a:gd name="connsiteY1" fmla="*/ 0 h 6267450"/>
                <a:gd name="connsiteX2" fmla="*/ 4981578 w 6200775"/>
                <a:gd name="connsiteY2" fmla="*/ 3041021 h 6267450"/>
                <a:gd name="connsiteX3" fmla="*/ 6200775 w 6200775"/>
                <a:gd name="connsiteY3" fmla="*/ 6267450 h 6267450"/>
                <a:gd name="connsiteX4" fmla="*/ 6200775 w 6200775"/>
                <a:gd name="connsiteY4" fmla="*/ 6267450 h 6267450"/>
                <a:gd name="connsiteX5" fmla="*/ 0 w 6200775"/>
                <a:gd name="connsiteY5" fmla="*/ 6267450 h 6267450"/>
                <a:gd name="connsiteX6" fmla="*/ 0 w 6200775"/>
                <a:gd name="connsiteY6" fmla="*/ 6267450 h 6267450"/>
                <a:gd name="connsiteX7" fmla="*/ 1276350 w 6200775"/>
                <a:gd name="connsiteY7" fmla="*/ 3174374 h 6267450"/>
                <a:gd name="connsiteX8" fmla="*/ 2469521 w 6200775"/>
                <a:gd name="connsiteY8" fmla="*/ 0 h 626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00775" h="6267450">
                  <a:moveTo>
                    <a:pt x="2469521" y="0"/>
                  </a:moveTo>
                  <a:lnTo>
                    <a:pt x="3731254" y="0"/>
                  </a:lnTo>
                  <a:lnTo>
                    <a:pt x="4981578" y="3041021"/>
                  </a:lnTo>
                  <a:lnTo>
                    <a:pt x="6200775" y="6267450"/>
                  </a:lnTo>
                  <a:lnTo>
                    <a:pt x="6200775" y="6267450"/>
                  </a:lnTo>
                  <a:lnTo>
                    <a:pt x="0" y="6267450"/>
                  </a:lnTo>
                  <a:lnTo>
                    <a:pt x="0" y="6267450"/>
                  </a:lnTo>
                  <a:lnTo>
                    <a:pt x="1276350" y="3174374"/>
                  </a:lnTo>
                  <a:lnTo>
                    <a:pt x="246952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" name="AWS Cloud container" descr="AWS cloud container encapsulating an architecture.">
              <a:extLst>
                <a:ext uri="{FF2B5EF4-FFF2-40B4-BE49-F238E27FC236}">
                  <a16:creationId xmlns:a16="http://schemas.microsoft.com/office/drawing/2014/main" id="{4D4C341D-18B4-1B24-22FD-745417D7A175}"/>
                </a:ext>
              </a:extLst>
            </p:cNvPr>
            <p:cNvGrpSpPr/>
            <p:nvPr/>
          </p:nvGrpSpPr>
          <p:grpSpPr>
            <a:xfrm>
              <a:off x="7848601" y="1695448"/>
              <a:ext cx="9677397" cy="6200778"/>
              <a:chOff x="5391149" y="1530349"/>
              <a:chExt cx="5500688" cy="3870326"/>
            </a:xfrm>
          </p:grpSpPr>
          <p:sp>
            <p:nvSpPr>
              <p:cNvPr id="51" name="Rectangle 17">
                <a:extLst>
                  <a:ext uri="{FF2B5EF4-FFF2-40B4-BE49-F238E27FC236}">
                    <a16:creationId xmlns:a16="http://schemas.microsoft.com/office/drawing/2014/main" id="{1E7BA35F-0CA1-1932-1A60-2D00AED089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391151" y="1531938"/>
                <a:ext cx="5500686" cy="3868737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AWS Cloud</a:t>
                </a:r>
              </a:p>
            </p:txBody>
          </p:sp>
          <p:pic>
            <p:nvPicPr>
              <p:cNvPr id="52" name="Graphic 18">
                <a:extLst>
                  <a:ext uri="{FF2B5EF4-FFF2-40B4-BE49-F238E27FC236}">
                    <a16:creationId xmlns:a16="http://schemas.microsoft.com/office/drawing/2014/main" id="{7FD4005E-EE57-DE6D-FE1D-C816C27890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5391149" y="1530349"/>
                <a:ext cx="192500" cy="224700"/>
              </a:xfrm>
              <a:prstGeom prst="rect">
                <a:avLst/>
              </a:prstGeom>
            </p:spPr>
          </p:pic>
        </p:grpSp>
        <p:sp>
          <p:nvSpPr>
            <p:cNvPr id="9" name="Rectangle 61445">
              <a:extLst>
                <a:ext uri="{FF2B5EF4-FFF2-40B4-BE49-F238E27FC236}">
                  <a16:creationId xmlns:a16="http://schemas.microsoft.com/office/drawing/2014/main" id="{719A1393-3901-ACDB-8BAB-C6346973B4FF}"/>
                </a:ext>
              </a:extLst>
            </p:cNvPr>
            <p:cNvSpPr/>
            <p:nvPr/>
          </p:nvSpPr>
          <p:spPr>
            <a:xfrm>
              <a:off x="12611100" y="2476499"/>
              <a:ext cx="4655692" cy="1416050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E7157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account</a:t>
              </a:r>
            </a:p>
          </p:txBody>
        </p:sp>
        <p:pic>
          <p:nvPicPr>
            <p:cNvPr id="10" name="Graphic 61446" descr="AWS account group icon.">
              <a:extLst>
                <a:ext uri="{FF2B5EF4-FFF2-40B4-BE49-F238E27FC236}">
                  <a16:creationId xmlns:a16="http://schemas.microsoft.com/office/drawing/2014/main" id="{6895346C-A3F3-173E-F58F-DA200F643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2611100" y="2476501"/>
              <a:ext cx="399920" cy="360001"/>
            </a:xfrm>
            <a:prstGeom prst="rect">
              <a:avLst/>
            </a:prstGeom>
          </p:spPr>
        </p:pic>
        <p:pic>
          <p:nvPicPr>
            <p:cNvPr id="11" name="그림 67">
              <a:extLst>
                <a:ext uri="{FF2B5EF4-FFF2-40B4-BE49-F238E27FC236}">
                  <a16:creationId xmlns:a16="http://schemas.microsoft.com/office/drawing/2014/main" id="{B8B3E289-CB73-4FA1-095F-9CC9C9F6D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4706600" y="3024379"/>
              <a:ext cx="469351" cy="46935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99E3C03-CC44-97FC-7D7B-582153C6E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351399" y="3009899"/>
              <a:ext cx="482051" cy="482051"/>
            </a:xfrm>
            <a:prstGeom prst="rect">
              <a:avLst/>
            </a:prstGeom>
          </p:spPr>
        </p:pic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E211C3EF-7042-B254-B693-B2F8CF8CF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008898" y="3009898"/>
              <a:ext cx="482052" cy="48205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9DEEB6-70E6-B052-32BE-0246F124AA86}"/>
                </a:ext>
              </a:extLst>
            </p:cNvPr>
            <p:cNvSpPr txBox="1"/>
            <p:nvPr/>
          </p:nvSpPr>
          <p:spPr>
            <a:xfrm>
              <a:off x="16588233" y="3024379"/>
              <a:ext cx="678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...</a:t>
              </a:r>
              <a:endParaRPr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7867F60-A13E-1CEE-8C13-021C393F4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87400" y="3250226"/>
              <a:ext cx="88257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DD44652-40B5-6040-4530-B6E67B9332DB}"/>
                </a:ext>
              </a:extLst>
            </p:cNvPr>
            <p:cNvSpPr/>
            <p:nvPr/>
          </p:nvSpPr>
          <p:spPr>
            <a:xfrm>
              <a:off x="14487525" y="4482740"/>
              <a:ext cx="2581275" cy="91634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4AFEF3F-DCBE-47F0-2F71-E666E0D3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2338" y="4691108"/>
              <a:ext cx="517268" cy="517268"/>
            </a:xfrm>
            <a:prstGeom prst="rect">
              <a:avLst/>
            </a:prstGeom>
          </p:spPr>
        </p:pic>
        <p:sp>
          <p:nvSpPr>
            <p:cNvPr id="18" name="Rectangle 61445">
              <a:extLst>
                <a:ext uri="{FF2B5EF4-FFF2-40B4-BE49-F238E27FC236}">
                  <a16:creationId xmlns:a16="http://schemas.microsoft.com/office/drawing/2014/main" id="{F4F6C138-221C-457A-2B0E-162EC926CCB7}"/>
                </a:ext>
              </a:extLst>
            </p:cNvPr>
            <p:cNvSpPr/>
            <p:nvPr/>
          </p:nvSpPr>
          <p:spPr>
            <a:xfrm>
              <a:off x="12611100" y="4167187"/>
              <a:ext cx="4655692" cy="1416050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E7157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account</a:t>
              </a:r>
            </a:p>
          </p:txBody>
        </p:sp>
        <p:pic>
          <p:nvPicPr>
            <p:cNvPr id="19" name="Graphic 61446" descr="AWS account group icon.">
              <a:extLst>
                <a:ext uri="{FF2B5EF4-FFF2-40B4-BE49-F238E27FC236}">
                  <a16:creationId xmlns:a16="http://schemas.microsoft.com/office/drawing/2014/main" id="{E37E0472-F469-C71F-481A-CCA5ECFB8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2611100" y="4167189"/>
              <a:ext cx="399920" cy="360001"/>
            </a:xfrm>
            <a:prstGeom prst="rect">
              <a:avLst/>
            </a:prstGeom>
          </p:spPr>
        </p:pic>
        <p:pic>
          <p:nvPicPr>
            <p:cNvPr id="20" name="그림 67">
              <a:extLst>
                <a:ext uri="{FF2B5EF4-FFF2-40B4-BE49-F238E27FC236}">
                  <a16:creationId xmlns:a16="http://schemas.microsoft.com/office/drawing/2014/main" id="{10AB1CEC-56F0-7D63-24A9-2564732C5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4706600" y="4715067"/>
              <a:ext cx="469351" cy="46935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D916DB58-4FD0-8048-A3C8-8B59079BF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351399" y="4700587"/>
              <a:ext cx="482051" cy="482051"/>
            </a:xfrm>
            <a:prstGeom prst="rect">
              <a:avLst/>
            </a:prstGeom>
          </p:spPr>
        </p:pic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59A1A1ED-EFBB-72F1-89FA-C62892482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008898" y="4700586"/>
              <a:ext cx="482052" cy="48205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98F2D4-8F41-7A69-9106-842866EC80E6}"/>
                </a:ext>
              </a:extLst>
            </p:cNvPr>
            <p:cNvSpPr txBox="1"/>
            <p:nvPr/>
          </p:nvSpPr>
          <p:spPr>
            <a:xfrm>
              <a:off x="16588233" y="4715067"/>
              <a:ext cx="678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...</a:t>
              </a:r>
              <a:endParaRPr lang="ko-KR" altLang="en-US" dirty="0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C7B66BE-61BA-340C-2E4D-52FAC6FA9A4E}"/>
                </a:ext>
              </a:extLst>
            </p:cNvPr>
            <p:cNvCxnSpPr>
              <a:cxnSpLocks/>
              <a:stCxn id="17" idx="3"/>
              <a:endCxn id="16" idx="1"/>
            </p:cNvCxnSpPr>
            <p:nvPr/>
          </p:nvCxnSpPr>
          <p:spPr>
            <a:xfrm flipV="1">
              <a:off x="13512277" y="4940914"/>
              <a:ext cx="882577" cy="88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4A2ED585-0ADB-1C11-6CC2-1C2AA2639DAF}"/>
                </a:ext>
              </a:extLst>
            </p:cNvPr>
            <p:cNvSpPr/>
            <p:nvPr/>
          </p:nvSpPr>
          <p:spPr>
            <a:xfrm>
              <a:off x="14487525" y="6176603"/>
              <a:ext cx="2581275" cy="91634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2DC8B0A-B284-588E-BB54-0E58966AB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2338" y="6384971"/>
              <a:ext cx="517268" cy="517268"/>
            </a:xfrm>
            <a:prstGeom prst="rect">
              <a:avLst/>
            </a:prstGeom>
          </p:spPr>
        </p:pic>
        <p:sp>
          <p:nvSpPr>
            <p:cNvPr id="27" name="Rectangle 61445">
              <a:extLst>
                <a:ext uri="{FF2B5EF4-FFF2-40B4-BE49-F238E27FC236}">
                  <a16:creationId xmlns:a16="http://schemas.microsoft.com/office/drawing/2014/main" id="{A0584FB4-0384-25F3-0484-6BFD5A2D5210}"/>
                </a:ext>
              </a:extLst>
            </p:cNvPr>
            <p:cNvSpPr/>
            <p:nvPr/>
          </p:nvSpPr>
          <p:spPr>
            <a:xfrm>
              <a:off x="12611100" y="5861050"/>
              <a:ext cx="4655692" cy="1416050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E7157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account</a:t>
              </a:r>
            </a:p>
          </p:txBody>
        </p:sp>
        <p:pic>
          <p:nvPicPr>
            <p:cNvPr id="28" name="Graphic 61446" descr="AWS account group icon.">
              <a:extLst>
                <a:ext uri="{FF2B5EF4-FFF2-40B4-BE49-F238E27FC236}">
                  <a16:creationId xmlns:a16="http://schemas.microsoft.com/office/drawing/2014/main" id="{192B715A-6B0A-6ED8-BB86-2E52DA91C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2611100" y="5861052"/>
              <a:ext cx="399920" cy="360001"/>
            </a:xfrm>
            <a:prstGeom prst="rect">
              <a:avLst/>
            </a:prstGeom>
          </p:spPr>
        </p:pic>
        <p:pic>
          <p:nvPicPr>
            <p:cNvPr id="29" name="그림 67">
              <a:extLst>
                <a:ext uri="{FF2B5EF4-FFF2-40B4-BE49-F238E27FC236}">
                  <a16:creationId xmlns:a16="http://schemas.microsoft.com/office/drawing/2014/main" id="{C63ECF29-D571-6113-DD77-15CE89A00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4706600" y="6408930"/>
              <a:ext cx="469351" cy="469351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9C753B6-1250-255C-02B8-EC5D8A1A7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351399" y="6394450"/>
              <a:ext cx="482051" cy="482051"/>
            </a:xfrm>
            <a:prstGeom prst="rect">
              <a:avLst/>
            </a:prstGeom>
          </p:spPr>
        </p:pic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DACC47FD-F0D2-4598-3695-31191BC43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008898" y="6394449"/>
              <a:ext cx="482052" cy="48205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48E86A-691F-2052-3F02-97B0BA4AC77E}"/>
                </a:ext>
              </a:extLst>
            </p:cNvPr>
            <p:cNvSpPr txBox="1"/>
            <p:nvPr/>
          </p:nvSpPr>
          <p:spPr>
            <a:xfrm>
              <a:off x="16588233" y="6408930"/>
              <a:ext cx="678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...</a:t>
              </a:r>
              <a:endParaRPr lang="ko-KR" altLang="en-US" dirty="0"/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D72F7D82-D5E5-ED51-589C-14E80DEB5CFE}"/>
                </a:ext>
              </a:extLst>
            </p:cNvPr>
            <p:cNvCxnSpPr>
              <a:cxnSpLocks/>
              <a:stCxn id="26" idx="3"/>
              <a:endCxn id="25" idx="1"/>
            </p:cNvCxnSpPr>
            <p:nvPr/>
          </p:nvCxnSpPr>
          <p:spPr>
            <a:xfrm flipV="1">
              <a:off x="13512277" y="6634777"/>
              <a:ext cx="882577" cy="88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EDAD9F2-CBD1-2061-FEB4-3754F89E7FB6}"/>
                </a:ext>
              </a:extLst>
            </p:cNvPr>
            <p:cNvSpPr/>
            <p:nvPr/>
          </p:nvSpPr>
          <p:spPr>
            <a:xfrm>
              <a:off x="8702304" y="2792052"/>
              <a:ext cx="2544391" cy="43008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D8A77E-37BC-BF60-C510-92CCE278E7FB}"/>
                </a:ext>
              </a:extLst>
            </p:cNvPr>
            <p:cNvSpPr txBox="1"/>
            <p:nvPr/>
          </p:nvSpPr>
          <p:spPr>
            <a:xfrm>
              <a:off x="8686800" y="2857500"/>
              <a:ext cx="2544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UEBA</a:t>
              </a:r>
              <a:endParaRPr lang="ko-KR" altLang="en-US" b="1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7D927CD-615D-BB84-7BB5-1C347936312A}"/>
                </a:ext>
              </a:extLst>
            </p:cNvPr>
            <p:cNvSpPr/>
            <p:nvPr/>
          </p:nvSpPr>
          <p:spPr>
            <a:xfrm>
              <a:off x="8849654" y="3315321"/>
              <a:ext cx="224969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 collection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19C7432-DC6F-8814-464D-0F9BA0464404}"/>
                </a:ext>
              </a:extLst>
            </p:cNvPr>
            <p:cNvSpPr/>
            <p:nvPr/>
          </p:nvSpPr>
          <p:spPr>
            <a:xfrm>
              <a:off x="8837031" y="4880717"/>
              <a:ext cx="224969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Anomaly Detection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7F29841-A547-356B-ED31-3B072968F363}"/>
                </a:ext>
              </a:extLst>
            </p:cNvPr>
            <p:cNvSpPr/>
            <p:nvPr/>
          </p:nvSpPr>
          <p:spPr>
            <a:xfrm>
              <a:off x="8850285" y="4098019"/>
              <a:ext cx="224969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Profiling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BF314EB-D7E6-47BA-243C-37E07F8A60BF}"/>
                </a:ext>
              </a:extLst>
            </p:cNvPr>
            <p:cNvSpPr/>
            <p:nvPr/>
          </p:nvSpPr>
          <p:spPr>
            <a:xfrm>
              <a:off x="8841449" y="5663416"/>
              <a:ext cx="224969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Risk Scoring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25BEA4D-8029-EDAD-8CAD-6DAE3F0411DA}"/>
                </a:ext>
              </a:extLst>
            </p:cNvPr>
            <p:cNvSpPr/>
            <p:nvPr/>
          </p:nvSpPr>
          <p:spPr>
            <a:xfrm>
              <a:off x="8848760" y="6446115"/>
              <a:ext cx="224969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Remediation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73B348E7-37BD-7EF5-A985-44B0D636C87C}"/>
                </a:ext>
              </a:extLst>
            </p:cNvPr>
            <p:cNvCxnSpPr>
              <a:stCxn id="36" idx="3"/>
              <a:endCxn id="9" idx="1"/>
            </p:cNvCxnSpPr>
            <p:nvPr/>
          </p:nvCxnSpPr>
          <p:spPr>
            <a:xfrm flipV="1">
              <a:off x="11099344" y="3184524"/>
              <a:ext cx="1511756" cy="315463"/>
            </a:xfrm>
            <a:prstGeom prst="bentConnector3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연결선: 꺾임 41">
              <a:extLst>
                <a:ext uri="{FF2B5EF4-FFF2-40B4-BE49-F238E27FC236}">
                  <a16:creationId xmlns:a16="http://schemas.microsoft.com/office/drawing/2014/main" id="{CA8E89C6-C1ED-42D8-0A7B-BE02CFCF27DB}"/>
                </a:ext>
              </a:extLst>
            </p:cNvPr>
            <p:cNvCxnSpPr>
              <a:cxnSpLocks/>
              <a:stCxn id="36" idx="3"/>
              <a:endCxn id="27" idx="1"/>
            </p:cNvCxnSpPr>
            <p:nvPr/>
          </p:nvCxnSpPr>
          <p:spPr>
            <a:xfrm>
              <a:off x="11099344" y="3499987"/>
              <a:ext cx="1511756" cy="3069088"/>
            </a:xfrm>
            <a:prstGeom prst="bentConnector3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연결선: 꺾임 42">
              <a:extLst>
                <a:ext uri="{FF2B5EF4-FFF2-40B4-BE49-F238E27FC236}">
                  <a16:creationId xmlns:a16="http://schemas.microsoft.com/office/drawing/2014/main" id="{E2938264-10D5-968E-4154-B3E0746AA5B1}"/>
                </a:ext>
              </a:extLst>
            </p:cNvPr>
            <p:cNvCxnSpPr>
              <a:cxnSpLocks/>
              <a:stCxn id="36" idx="3"/>
              <a:endCxn id="18" idx="1"/>
            </p:cNvCxnSpPr>
            <p:nvPr/>
          </p:nvCxnSpPr>
          <p:spPr>
            <a:xfrm>
              <a:off x="11099344" y="3499987"/>
              <a:ext cx="1511756" cy="1375225"/>
            </a:xfrm>
            <a:prstGeom prst="bentConnector3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AD77FBEE-026A-C32F-1E09-608C880BC31A}"/>
                </a:ext>
              </a:extLst>
            </p:cNvPr>
            <p:cNvCxnSpPr>
              <a:stCxn id="36" idx="2"/>
              <a:endCxn id="38" idx="0"/>
            </p:cNvCxnSpPr>
            <p:nvPr/>
          </p:nvCxnSpPr>
          <p:spPr>
            <a:xfrm>
              <a:off x="9974499" y="3684653"/>
              <a:ext cx="631" cy="4133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5BCBCA72-531D-70BC-84B1-AA3E553B7D3F}"/>
                </a:ext>
              </a:extLst>
            </p:cNvPr>
            <p:cNvCxnSpPr/>
            <p:nvPr/>
          </p:nvCxnSpPr>
          <p:spPr>
            <a:xfrm>
              <a:off x="9958995" y="5238320"/>
              <a:ext cx="631" cy="4133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0E4A3CF-DDB7-7110-2329-9ED01B71837A}"/>
                </a:ext>
              </a:extLst>
            </p:cNvPr>
            <p:cNvCxnSpPr/>
            <p:nvPr/>
          </p:nvCxnSpPr>
          <p:spPr>
            <a:xfrm>
              <a:off x="9961190" y="4473898"/>
              <a:ext cx="631" cy="4133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12061898-F6F3-D926-86DB-6A55F68B28F3}"/>
                </a:ext>
              </a:extLst>
            </p:cNvPr>
            <p:cNvCxnSpPr/>
            <p:nvPr/>
          </p:nvCxnSpPr>
          <p:spPr>
            <a:xfrm>
              <a:off x="9958995" y="6032798"/>
              <a:ext cx="631" cy="4133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BCFC7B1B-9FC1-32B2-D83F-D4C12058C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flipH="1">
              <a:off x="2603053" y="4033837"/>
              <a:ext cx="1524000" cy="1524000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3CC122F7-165B-79D3-C6C7-D0750FBAE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03347" y="3606202"/>
              <a:ext cx="2976953" cy="243485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279E97F0-231D-584A-845D-92BD875EE1ED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7467600" y="4942502"/>
              <a:ext cx="123470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0217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B9B5-7BE6-18BB-EB0C-AD33A96D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88B953-5F57-22C7-4713-D2FBB64C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2019300"/>
            <a:ext cx="762000" cy="762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F1BDA03-2195-C998-E082-3A3F135EC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4229100"/>
            <a:ext cx="762000" cy="762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E0F757-E4D2-4C60-3FB3-B9F365F5D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2450" y="6438900"/>
            <a:ext cx="762000" cy="762000"/>
          </a:xfrm>
          <a:prstGeom prst="rect">
            <a:avLst/>
          </a:prstGeom>
        </p:spPr>
      </p:pic>
      <p:pic>
        <p:nvPicPr>
          <p:cNvPr id="1026" name="Picture 2" descr="AWS 기초부터 이해하기 | Amazon Web Service | Standing-O">
            <a:extLst>
              <a:ext uri="{FF2B5EF4-FFF2-40B4-BE49-F238E27FC236}">
                <a16:creationId xmlns:a16="http://schemas.microsoft.com/office/drawing/2014/main" id="{F2754508-5F29-058A-A250-1EEFA216E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0" y="1185862"/>
            <a:ext cx="1358900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F36E27-0C69-F392-2489-15A42289B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381500"/>
            <a:ext cx="1524000" cy="152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388104-0F01-0864-2F74-57D48F6DC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657600" y="4229100"/>
            <a:ext cx="1524000" cy="1524000"/>
          </a:xfrm>
          <a:prstGeom prst="rect">
            <a:avLst/>
          </a:prstGeom>
        </p:spPr>
      </p:pic>
      <p:sp>
        <p:nvSpPr>
          <p:cNvPr id="14" name="사각형: 잘린 위쪽 모서리 13">
            <a:extLst>
              <a:ext uri="{FF2B5EF4-FFF2-40B4-BE49-F238E27FC236}">
                <a16:creationId xmlns:a16="http://schemas.microsoft.com/office/drawing/2014/main" id="{EFB9549D-DBFE-44F9-D215-374251C9A751}"/>
              </a:ext>
            </a:extLst>
          </p:cNvPr>
          <p:cNvSpPr/>
          <p:nvPr/>
        </p:nvSpPr>
        <p:spPr>
          <a:xfrm rot="16200000">
            <a:off x="5214937" y="1662113"/>
            <a:ext cx="6200775" cy="6267450"/>
          </a:xfrm>
          <a:custGeom>
            <a:avLst/>
            <a:gdLst>
              <a:gd name="connsiteX0" fmla="*/ 2469521 w 6200775"/>
              <a:gd name="connsiteY0" fmla="*/ 0 h 6267450"/>
              <a:gd name="connsiteX1" fmla="*/ 3731254 w 6200775"/>
              <a:gd name="connsiteY1" fmla="*/ 0 h 6267450"/>
              <a:gd name="connsiteX2" fmla="*/ 6200775 w 6200775"/>
              <a:gd name="connsiteY2" fmla="*/ 2469521 h 6267450"/>
              <a:gd name="connsiteX3" fmla="*/ 6200775 w 6200775"/>
              <a:gd name="connsiteY3" fmla="*/ 6267450 h 6267450"/>
              <a:gd name="connsiteX4" fmla="*/ 6200775 w 6200775"/>
              <a:gd name="connsiteY4" fmla="*/ 6267450 h 6267450"/>
              <a:gd name="connsiteX5" fmla="*/ 0 w 6200775"/>
              <a:gd name="connsiteY5" fmla="*/ 6267450 h 6267450"/>
              <a:gd name="connsiteX6" fmla="*/ 0 w 6200775"/>
              <a:gd name="connsiteY6" fmla="*/ 6267450 h 6267450"/>
              <a:gd name="connsiteX7" fmla="*/ 0 w 6200775"/>
              <a:gd name="connsiteY7" fmla="*/ 2469521 h 6267450"/>
              <a:gd name="connsiteX8" fmla="*/ 2469521 w 6200775"/>
              <a:gd name="connsiteY8" fmla="*/ 0 h 6267450"/>
              <a:gd name="connsiteX0" fmla="*/ 2469521 w 6200775"/>
              <a:gd name="connsiteY0" fmla="*/ 0 h 6267450"/>
              <a:gd name="connsiteX1" fmla="*/ 3731254 w 6200775"/>
              <a:gd name="connsiteY1" fmla="*/ 0 h 6267450"/>
              <a:gd name="connsiteX2" fmla="*/ 4981578 w 6200775"/>
              <a:gd name="connsiteY2" fmla="*/ 3041021 h 6267450"/>
              <a:gd name="connsiteX3" fmla="*/ 6200775 w 6200775"/>
              <a:gd name="connsiteY3" fmla="*/ 6267450 h 6267450"/>
              <a:gd name="connsiteX4" fmla="*/ 6200775 w 6200775"/>
              <a:gd name="connsiteY4" fmla="*/ 6267450 h 6267450"/>
              <a:gd name="connsiteX5" fmla="*/ 0 w 6200775"/>
              <a:gd name="connsiteY5" fmla="*/ 6267450 h 6267450"/>
              <a:gd name="connsiteX6" fmla="*/ 0 w 6200775"/>
              <a:gd name="connsiteY6" fmla="*/ 6267450 h 6267450"/>
              <a:gd name="connsiteX7" fmla="*/ 0 w 6200775"/>
              <a:gd name="connsiteY7" fmla="*/ 2469521 h 6267450"/>
              <a:gd name="connsiteX8" fmla="*/ 2469521 w 6200775"/>
              <a:gd name="connsiteY8" fmla="*/ 0 h 6267450"/>
              <a:gd name="connsiteX0" fmla="*/ 2469521 w 6200775"/>
              <a:gd name="connsiteY0" fmla="*/ 0 h 6267450"/>
              <a:gd name="connsiteX1" fmla="*/ 3731254 w 6200775"/>
              <a:gd name="connsiteY1" fmla="*/ 0 h 6267450"/>
              <a:gd name="connsiteX2" fmla="*/ 4981578 w 6200775"/>
              <a:gd name="connsiteY2" fmla="*/ 3041021 h 6267450"/>
              <a:gd name="connsiteX3" fmla="*/ 6200775 w 6200775"/>
              <a:gd name="connsiteY3" fmla="*/ 6267450 h 6267450"/>
              <a:gd name="connsiteX4" fmla="*/ 6200775 w 6200775"/>
              <a:gd name="connsiteY4" fmla="*/ 6267450 h 6267450"/>
              <a:gd name="connsiteX5" fmla="*/ 0 w 6200775"/>
              <a:gd name="connsiteY5" fmla="*/ 6267450 h 6267450"/>
              <a:gd name="connsiteX6" fmla="*/ 0 w 6200775"/>
              <a:gd name="connsiteY6" fmla="*/ 6267450 h 6267450"/>
              <a:gd name="connsiteX7" fmla="*/ 1276350 w 6200775"/>
              <a:gd name="connsiteY7" fmla="*/ 3174374 h 6267450"/>
              <a:gd name="connsiteX8" fmla="*/ 2469521 w 6200775"/>
              <a:gd name="connsiteY8" fmla="*/ 0 h 626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00775" h="6267450">
                <a:moveTo>
                  <a:pt x="2469521" y="0"/>
                </a:moveTo>
                <a:lnTo>
                  <a:pt x="3731254" y="0"/>
                </a:lnTo>
                <a:lnTo>
                  <a:pt x="4981578" y="3041021"/>
                </a:lnTo>
                <a:lnTo>
                  <a:pt x="6200775" y="6267450"/>
                </a:lnTo>
                <a:lnTo>
                  <a:pt x="6200775" y="6267450"/>
                </a:lnTo>
                <a:lnTo>
                  <a:pt x="0" y="6267450"/>
                </a:lnTo>
                <a:lnTo>
                  <a:pt x="0" y="6267450"/>
                </a:lnTo>
                <a:lnTo>
                  <a:pt x="1276350" y="3174374"/>
                </a:lnTo>
                <a:lnTo>
                  <a:pt x="246952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AWS Cloud container" descr="AWS cloud container encapsulating an architecture.">
            <a:extLst>
              <a:ext uri="{FF2B5EF4-FFF2-40B4-BE49-F238E27FC236}">
                <a16:creationId xmlns:a16="http://schemas.microsoft.com/office/drawing/2014/main" id="{96C1AE8E-DCC3-328D-81EB-5574B0F68142}"/>
              </a:ext>
            </a:extLst>
          </p:cNvPr>
          <p:cNvGrpSpPr/>
          <p:nvPr/>
        </p:nvGrpSpPr>
        <p:grpSpPr>
          <a:xfrm>
            <a:off x="5391151" y="1530350"/>
            <a:ext cx="5500686" cy="3870325"/>
            <a:chOff x="5391151" y="1530350"/>
            <a:chExt cx="5500686" cy="3870325"/>
          </a:xfrm>
        </p:grpSpPr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82089BD2-87AC-34F6-D106-AA2EC473C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91151" y="1531938"/>
              <a:ext cx="5500686" cy="3868737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38" name="Graphic 18">
              <a:extLst>
                <a:ext uri="{FF2B5EF4-FFF2-40B4-BE49-F238E27FC236}">
                  <a16:creationId xmlns:a16="http://schemas.microsoft.com/office/drawing/2014/main" id="{DDBF4DD6-D33D-B6AE-7820-521CAC3A8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391151" y="1530350"/>
              <a:ext cx="381000" cy="381000"/>
            </a:xfrm>
            <a:prstGeom prst="rect">
              <a:avLst/>
            </a:prstGeom>
          </p:spPr>
        </p:pic>
      </p:grpSp>
      <p:grpSp>
        <p:nvGrpSpPr>
          <p:cNvPr id="39" name="Group 2" descr="AWS Cloud group with AWS logo.">
            <a:extLst>
              <a:ext uri="{FF2B5EF4-FFF2-40B4-BE49-F238E27FC236}">
                <a16:creationId xmlns:a16="http://schemas.microsoft.com/office/drawing/2014/main" id="{640C6A32-B487-488F-E076-B79E6D2972B9}"/>
              </a:ext>
            </a:extLst>
          </p:cNvPr>
          <p:cNvGrpSpPr/>
          <p:nvPr/>
        </p:nvGrpSpPr>
        <p:grpSpPr>
          <a:xfrm>
            <a:off x="13868400" y="3086100"/>
            <a:ext cx="1765300" cy="890588"/>
            <a:chOff x="355600" y="1512745"/>
            <a:chExt cx="1765300" cy="890588"/>
          </a:xfrm>
        </p:grpSpPr>
        <p:sp>
          <p:nvSpPr>
            <p:cNvPr id="40" name="Rectangle 21">
              <a:extLst>
                <a:ext uri="{FF2B5EF4-FFF2-40B4-BE49-F238E27FC236}">
                  <a16:creationId xmlns:a16="http://schemas.microsoft.com/office/drawing/2014/main" id="{6D211252-EB71-61A2-8D54-E0C3BF9943B4}"/>
                </a:ext>
              </a:extLst>
            </p:cNvPr>
            <p:cNvSpPr/>
            <p:nvPr/>
          </p:nvSpPr>
          <p:spPr>
            <a:xfrm>
              <a:off x="355600" y="1512745"/>
              <a:ext cx="1765300" cy="890588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41" name="Graphic 22">
              <a:extLst>
                <a:ext uri="{FF2B5EF4-FFF2-40B4-BE49-F238E27FC236}">
                  <a16:creationId xmlns:a16="http://schemas.microsoft.com/office/drawing/2014/main" id="{96A1031D-A1FF-7385-BD42-6CD546043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55600" y="1512745"/>
              <a:ext cx="381000" cy="3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404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336</Words>
  <Application>Microsoft Office PowerPoint</Application>
  <PresentationFormat>사용자 지정</PresentationFormat>
  <Paragraphs>94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Inter</vt:lpstr>
      <vt:lpstr>Source Han Sans KR Bold</vt:lpstr>
      <vt:lpstr>Aptos</vt:lpstr>
      <vt:lpstr>Inter Semi-Bold</vt:lpstr>
      <vt:lpstr>Calibri</vt:lpstr>
      <vt:lpstr>Inter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그레이 블랙 심플한 마케터 포트폴리오 프레젠테이션</dc:title>
  <cp:lastModifiedBy>김민형</cp:lastModifiedBy>
  <cp:revision>5</cp:revision>
  <dcterms:created xsi:type="dcterms:W3CDTF">2006-08-16T00:00:00Z</dcterms:created>
  <dcterms:modified xsi:type="dcterms:W3CDTF">2025-09-24T17:38:55Z</dcterms:modified>
  <dc:identifier>DAGz2rB38Sk</dc:identifier>
</cp:coreProperties>
</file>