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sldIdLst>
    <p:sldId id="258" r:id="rId2"/>
  </p:sldIdLst>
  <p:sldSz cx="21383625" cy="30275213"/>
  <p:notesSz cx="6858000" cy="9144000"/>
  <p:embeddedFontLst>
    <p:embeddedFont>
      <p:font typeface="Arial Black" panose="020B0A04020102020204" pitchFamily="34" charset="0"/>
      <p:bold r:id="rId3"/>
    </p:embeddedFont>
    <p:embeddedFont>
      <p:font typeface="Franklin Gothic Demi" panose="020B0703020102020204" pitchFamily="34" charset="0"/>
      <p:regular r:id="rId4"/>
      <p:italic r:id="rId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651" userDrawn="1">
          <p15:clr>
            <a:srgbClr val="A4A3A4"/>
          </p15:clr>
        </p15:guide>
        <p15:guide id="2" pos="6735" userDrawn="1">
          <p15:clr>
            <a:srgbClr val="A4A3A4"/>
          </p15:clr>
        </p15:guide>
        <p15:guide id="3" orient="horz" pos="1452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8213"/>
    <a:srgbClr val="FFFFFF"/>
    <a:srgbClr val="ED7D31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>
        <p:scale>
          <a:sx n="33" d="100"/>
          <a:sy n="33" d="100"/>
        </p:scale>
        <p:origin x="1622" y="-845"/>
      </p:cViewPr>
      <p:guideLst>
        <p:guide orient="horz" pos="8651"/>
        <p:guide pos="6735"/>
        <p:guide orient="horz" pos="1452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3.fntdata"/><Relationship Id="rId4" Type="http://schemas.openxmlformats.org/officeDocument/2006/relationships/font" Target="fonts/font2.fntdata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772" y="4954765"/>
            <a:ext cx="18176081" cy="10540259"/>
          </a:xfrm>
        </p:spPr>
        <p:txBody>
          <a:bodyPr anchor="b"/>
          <a:lstStyle>
            <a:lvl1pPr algn="ctr">
              <a:defRPr sz="1403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2953" y="15901497"/>
            <a:ext cx="16037719" cy="7309499"/>
          </a:xfrm>
        </p:spPr>
        <p:txBody>
          <a:bodyPr/>
          <a:lstStyle>
            <a:lvl1pPr marL="0" indent="0" algn="ctr">
              <a:buNone/>
              <a:defRPr sz="5612"/>
            </a:lvl1pPr>
            <a:lvl2pPr marL="1069162" indent="0" algn="ctr">
              <a:buNone/>
              <a:defRPr sz="4677"/>
            </a:lvl2pPr>
            <a:lvl3pPr marL="2138324" indent="0" algn="ctr">
              <a:buNone/>
              <a:defRPr sz="4209"/>
            </a:lvl3pPr>
            <a:lvl4pPr marL="3207487" indent="0" algn="ctr">
              <a:buNone/>
              <a:defRPr sz="3742"/>
            </a:lvl4pPr>
            <a:lvl5pPr marL="4276649" indent="0" algn="ctr">
              <a:buNone/>
              <a:defRPr sz="3742"/>
            </a:lvl5pPr>
            <a:lvl6pPr marL="5345811" indent="0" algn="ctr">
              <a:buNone/>
              <a:defRPr sz="3742"/>
            </a:lvl6pPr>
            <a:lvl7pPr marL="6414973" indent="0" algn="ctr">
              <a:buNone/>
              <a:defRPr sz="3742"/>
            </a:lvl7pPr>
            <a:lvl8pPr marL="7484135" indent="0" algn="ctr">
              <a:buNone/>
              <a:defRPr sz="3742"/>
            </a:lvl8pPr>
            <a:lvl9pPr marL="8553298" indent="0" algn="ctr">
              <a:buNone/>
              <a:defRPr sz="3742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68C2B-BE6A-4123-B1EB-3B148078ED94}" type="datetimeFigureOut">
              <a:rPr lang="ko-KR" altLang="en-US" smtClean="0"/>
              <a:t>2025-09-15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5EE4-1B2F-4824-B0C8-6C1DBF8DD7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0216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68C2B-BE6A-4123-B1EB-3B148078ED94}" type="datetimeFigureOut">
              <a:rPr lang="ko-KR" altLang="en-US" smtClean="0"/>
              <a:t>2025-09-15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5EE4-1B2F-4824-B0C8-6C1DBF8DD7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7763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988" y="7547788"/>
            <a:ext cx="18443377" cy="12593645"/>
          </a:xfrm>
        </p:spPr>
        <p:txBody>
          <a:bodyPr anchor="b"/>
          <a:lstStyle>
            <a:lvl1pPr>
              <a:defRPr sz="1403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8988" y="20260574"/>
            <a:ext cx="18443377" cy="6622701"/>
          </a:xfrm>
        </p:spPr>
        <p:txBody>
          <a:bodyPr/>
          <a:lstStyle>
            <a:lvl1pPr marL="0" indent="0">
              <a:buNone/>
              <a:defRPr sz="5612">
                <a:solidFill>
                  <a:schemeClr val="tx1"/>
                </a:solidFill>
              </a:defRPr>
            </a:lvl1pPr>
            <a:lvl2pPr marL="1069162" indent="0">
              <a:buNone/>
              <a:defRPr sz="4677">
                <a:solidFill>
                  <a:schemeClr val="tx1">
                    <a:tint val="75000"/>
                  </a:schemeClr>
                </a:solidFill>
              </a:defRPr>
            </a:lvl2pPr>
            <a:lvl3pPr marL="2138324" indent="0">
              <a:buNone/>
              <a:defRPr sz="4209">
                <a:solidFill>
                  <a:schemeClr val="tx1">
                    <a:tint val="75000"/>
                  </a:schemeClr>
                </a:solidFill>
              </a:defRPr>
            </a:lvl3pPr>
            <a:lvl4pPr marL="3207487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4pPr>
            <a:lvl5pPr marL="4276649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5pPr>
            <a:lvl6pPr marL="5345811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6pPr>
            <a:lvl7pPr marL="6414973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7pPr>
            <a:lvl8pPr marL="7484135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8pPr>
            <a:lvl9pPr marL="8553298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68C2B-BE6A-4123-B1EB-3B148078ED94}" type="datetimeFigureOut">
              <a:rPr lang="ko-KR" altLang="en-US" smtClean="0"/>
              <a:t>2025-09-15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5EE4-1B2F-4824-B0C8-6C1DBF8DD7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3835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124" y="8059374"/>
            <a:ext cx="9088041" cy="1920934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25460" y="8059374"/>
            <a:ext cx="9088041" cy="1920934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68C2B-BE6A-4123-B1EB-3B148078ED94}" type="datetimeFigureOut">
              <a:rPr lang="ko-KR" altLang="en-US" smtClean="0"/>
              <a:t>2025-09-15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5EE4-1B2F-4824-B0C8-6C1DBF8DD7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6915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1611882"/>
            <a:ext cx="18443377" cy="585180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2912" y="7421634"/>
            <a:ext cx="9046274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2912" y="11058863"/>
            <a:ext cx="9046274" cy="16265921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25461" y="7421634"/>
            <a:ext cx="9090826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25461" y="11058863"/>
            <a:ext cx="9090826" cy="16265921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68C2B-BE6A-4123-B1EB-3B148078ED94}" type="datetimeFigureOut">
              <a:rPr lang="ko-KR" altLang="en-US" smtClean="0"/>
              <a:t>2025-09-15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5EE4-1B2F-4824-B0C8-6C1DBF8DD7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0110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68C2B-BE6A-4123-B1EB-3B148078ED94}" type="datetimeFigureOut">
              <a:rPr lang="ko-KR" altLang="en-US" smtClean="0"/>
              <a:t>2025-09-15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5EE4-1B2F-4824-B0C8-6C1DBF8DD7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2116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68C2B-BE6A-4123-B1EB-3B148078ED94}" type="datetimeFigureOut">
              <a:rPr lang="ko-KR" altLang="en-US" smtClean="0"/>
              <a:t>2025-09-15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5EE4-1B2F-4824-B0C8-6C1DBF8DD7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0523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826" y="4359077"/>
            <a:ext cx="10825460" cy="21515024"/>
          </a:xfrm>
        </p:spPr>
        <p:txBody>
          <a:bodyPr/>
          <a:lstStyle>
            <a:lvl1pPr>
              <a:defRPr sz="7483"/>
            </a:lvl1pPr>
            <a:lvl2pPr>
              <a:defRPr sz="6548"/>
            </a:lvl2pPr>
            <a:lvl3pPr>
              <a:defRPr sz="5612"/>
            </a:lvl3pPr>
            <a:lvl4pPr>
              <a:defRPr sz="4677"/>
            </a:lvl4pPr>
            <a:lvl5pPr>
              <a:defRPr sz="4677"/>
            </a:lvl5pPr>
            <a:lvl6pPr>
              <a:defRPr sz="4677"/>
            </a:lvl6pPr>
            <a:lvl7pPr>
              <a:defRPr sz="4677"/>
            </a:lvl7pPr>
            <a:lvl8pPr>
              <a:defRPr sz="4677"/>
            </a:lvl8pPr>
            <a:lvl9pPr>
              <a:defRPr sz="4677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68C2B-BE6A-4123-B1EB-3B148078ED94}" type="datetimeFigureOut">
              <a:rPr lang="ko-KR" altLang="en-US" smtClean="0"/>
              <a:t>2025-09-15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5EE4-1B2F-4824-B0C8-6C1DBF8DD7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9796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90826" y="4359077"/>
            <a:ext cx="10825460" cy="21515024"/>
          </a:xfrm>
        </p:spPr>
        <p:txBody>
          <a:bodyPr anchor="t"/>
          <a:lstStyle>
            <a:lvl1pPr marL="0" indent="0">
              <a:buNone/>
              <a:defRPr sz="7483"/>
            </a:lvl1pPr>
            <a:lvl2pPr marL="1069162" indent="0">
              <a:buNone/>
              <a:defRPr sz="6548"/>
            </a:lvl2pPr>
            <a:lvl3pPr marL="2138324" indent="0">
              <a:buNone/>
              <a:defRPr sz="5612"/>
            </a:lvl3pPr>
            <a:lvl4pPr marL="3207487" indent="0">
              <a:buNone/>
              <a:defRPr sz="4677"/>
            </a:lvl4pPr>
            <a:lvl5pPr marL="4276649" indent="0">
              <a:buNone/>
              <a:defRPr sz="4677"/>
            </a:lvl5pPr>
            <a:lvl6pPr marL="5345811" indent="0">
              <a:buNone/>
              <a:defRPr sz="4677"/>
            </a:lvl6pPr>
            <a:lvl7pPr marL="6414973" indent="0">
              <a:buNone/>
              <a:defRPr sz="4677"/>
            </a:lvl7pPr>
            <a:lvl8pPr marL="7484135" indent="0">
              <a:buNone/>
              <a:defRPr sz="4677"/>
            </a:lvl8pPr>
            <a:lvl9pPr marL="8553298" indent="0">
              <a:buNone/>
              <a:defRPr sz="467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68C2B-BE6A-4123-B1EB-3B148078ED94}" type="datetimeFigureOut">
              <a:rPr lang="ko-KR" altLang="en-US" smtClean="0"/>
              <a:t>2025-09-15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5EE4-1B2F-4824-B0C8-6C1DBF8DD7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7048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68C2B-BE6A-4123-B1EB-3B148078ED94}" type="datetimeFigureOut">
              <a:rPr lang="ko-KR" altLang="en-US" smtClean="0"/>
              <a:t>2025-09-15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5EE4-1B2F-4824-B0C8-6C1DBF8DD7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6346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02658" y="1611875"/>
            <a:ext cx="4610844" cy="256568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125" y="1611875"/>
            <a:ext cx="13565237" cy="256568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68C2B-BE6A-4123-B1EB-3B148078ED94}" type="datetimeFigureOut">
              <a:rPr lang="ko-KR" altLang="en-US" smtClean="0"/>
              <a:t>2025-09-15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5EE4-1B2F-4824-B0C8-6C1DBF8DD7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3526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124" y="1611882"/>
            <a:ext cx="18443377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124" y="8059374"/>
            <a:ext cx="18443377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368C2B-BE6A-4123-B1EB-3B148078ED94}" type="datetimeFigureOut">
              <a:rPr lang="ko-KR" altLang="en-US" smtClean="0"/>
              <a:t>2025-09-15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FA5EE4-1B2F-4824-B0C8-6C1DBF8DD7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8527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138324" rtl="0" eaLnBrk="1" latinLnBrk="1" hangingPunct="1">
        <a:lnSpc>
          <a:spcPct val="90000"/>
        </a:lnSpc>
        <a:spcBef>
          <a:spcPct val="0"/>
        </a:spcBef>
        <a:buNone/>
        <a:defRPr sz="102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4581" indent="-534581" algn="l" defTabSz="2138324" rtl="0" eaLnBrk="1" latinLnBrk="1" hangingPunct="1">
        <a:lnSpc>
          <a:spcPct val="90000"/>
        </a:lnSpc>
        <a:spcBef>
          <a:spcPts val="2339"/>
        </a:spcBef>
        <a:buFont typeface="Arial" panose="020B0604020202020204" pitchFamily="34" charset="0"/>
        <a:buChar char="•"/>
        <a:defRPr sz="6548" kern="1200">
          <a:solidFill>
            <a:schemeClr val="tx1"/>
          </a:solidFill>
          <a:latin typeface="+mn-lt"/>
          <a:ea typeface="+mn-ea"/>
          <a:cs typeface="+mn-cs"/>
        </a:defRPr>
      </a:lvl1pPr>
      <a:lvl2pPr marL="1603743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5612" kern="1200">
          <a:solidFill>
            <a:schemeClr val="tx1"/>
          </a:solidFill>
          <a:latin typeface="+mn-lt"/>
          <a:ea typeface="+mn-ea"/>
          <a:cs typeface="+mn-cs"/>
        </a:defRPr>
      </a:lvl2pPr>
      <a:lvl3pPr marL="2672906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677" kern="1200">
          <a:solidFill>
            <a:schemeClr val="tx1"/>
          </a:solidFill>
          <a:latin typeface="+mn-lt"/>
          <a:ea typeface="+mn-ea"/>
          <a:cs typeface="+mn-cs"/>
        </a:defRPr>
      </a:lvl3pPr>
      <a:lvl4pPr marL="3742068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811230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880392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949554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8018717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9087879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2pPr>
      <a:lvl3pPr marL="2138324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3pPr>
      <a:lvl4pPr marL="3207487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276649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345811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414973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7484135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8553298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jp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jpg"/><Relationship Id="rId15" Type="http://schemas.openxmlformats.org/officeDocument/2006/relationships/image" Target="../media/image14.sv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jp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그룹 24"/>
          <p:cNvGrpSpPr/>
          <p:nvPr/>
        </p:nvGrpSpPr>
        <p:grpSpPr>
          <a:xfrm>
            <a:off x="0" y="0"/>
            <a:ext cx="21364163" cy="6168822"/>
            <a:chOff x="0" y="0"/>
            <a:chExt cx="21364163" cy="6168822"/>
          </a:xfrm>
        </p:grpSpPr>
        <p:sp>
          <p:nvSpPr>
            <p:cNvPr id="68" name="TextBox 133"/>
            <p:cNvSpPr txBox="1"/>
            <p:nvPr/>
          </p:nvSpPr>
          <p:spPr>
            <a:xfrm>
              <a:off x="1029181" y="2101601"/>
              <a:ext cx="19218248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7200" b="1" dirty="0" err="1">
                  <a:solidFill>
                    <a:schemeClr val="bg1"/>
                  </a:solidFill>
                  <a:latin typeface="+mj-ea"/>
                  <a:ea typeface="+mj-ea"/>
                </a:rPr>
                <a:t>드론</a:t>
              </a:r>
              <a:r>
                <a:rPr lang="ko-KR" altLang="en-US" sz="7200" b="1" dirty="0">
                  <a:solidFill>
                    <a:schemeClr val="bg1"/>
                  </a:solidFill>
                  <a:latin typeface="+mj-ea"/>
                  <a:ea typeface="+mj-ea"/>
                </a:rPr>
                <a:t> 제어를 통한 스마트 </a:t>
              </a:r>
              <a:r>
                <a:rPr lang="ko-KR" altLang="en-US" sz="7200" b="1" dirty="0" err="1">
                  <a:solidFill>
                    <a:schemeClr val="bg1"/>
                  </a:solidFill>
                  <a:latin typeface="+mj-ea"/>
                  <a:ea typeface="+mj-ea"/>
                </a:rPr>
                <a:t>셀피</a:t>
              </a:r>
              <a:r>
                <a:rPr lang="ko-KR" altLang="en-US" sz="7200" b="1" dirty="0">
                  <a:solidFill>
                    <a:schemeClr val="bg1"/>
                  </a:solidFill>
                  <a:latin typeface="+mj-ea"/>
                  <a:ea typeface="+mj-ea"/>
                </a:rPr>
                <a:t> 서비스</a:t>
              </a:r>
              <a:endParaRPr lang="en-US" altLang="ko-KR" sz="72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6549768" y="4136539"/>
              <a:ext cx="723275" cy="4154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100" dirty="0" err="1">
                  <a:latin typeface="+mj-ea"/>
                  <a:ea typeface="+mj-ea"/>
                </a:rPr>
                <a:t>팀명</a:t>
              </a:r>
              <a:endParaRPr lang="en-US" altLang="ko-KR" sz="2100" dirty="0">
                <a:latin typeface="+mj-ea"/>
                <a:ea typeface="+mj-ea"/>
              </a:endParaRPr>
            </a:p>
          </p:txBody>
        </p:sp>
        <p:sp>
          <p:nvSpPr>
            <p:cNvPr id="71" name="직사각형 70"/>
            <p:cNvSpPr/>
            <p:nvPr/>
          </p:nvSpPr>
          <p:spPr>
            <a:xfrm>
              <a:off x="10007363" y="4136539"/>
              <a:ext cx="1261884" cy="4154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100" dirty="0">
                  <a:latin typeface="+mj-ea"/>
                  <a:ea typeface="+mj-ea"/>
                </a:rPr>
                <a:t>참여학생</a:t>
              </a:r>
              <a:endParaRPr lang="en-US" altLang="ko-KR" sz="2100" dirty="0">
                <a:latin typeface="+mj-ea"/>
                <a:ea typeface="+mj-ea"/>
              </a:endParaRPr>
            </a:p>
          </p:txBody>
        </p:sp>
        <p:sp>
          <p:nvSpPr>
            <p:cNvPr id="72" name="직사각형 71"/>
            <p:cNvSpPr/>
            <p:nvPr/>
          </p:nvSpPr>
          <p:spPr>
            <a:xfrm>
              <a:off x="16783660" y="4136539"/>
              <a:ext cx="1261884" cy="4154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100" dirty="0">
                  <a:latin typeface="+mj-ea"/>
                  <a:ea typeface="+mj-ea"/>
                </a:rPr>
                <a:t>지도교수</a:t>
              </a:r>
              <a:endParaRPr lang="en-US" altLang="ko-KR" sz="2100" dirty="0">
                <a:latin typeface="+mj-ea"/>
                <a:ea typeface="+mj-ea"/>
              </a:endParaRPr>
            </a:p>
          </p:txBody>
        </p:sp>
        <p:grpSp>
          <p:nvGrpSpPr>
            <p:cNvPr id="5" name="그룹 4"/>
            <p:cNvGrpSpPr/>
            <p:nvPr/>
          </p:nvGrpSpPr>
          <p:grpSpPr>
            <a:xfrm>
              <a:off x="717212" y="5079862"/>
              <a:ext cx="19949201" cy="758954"/>
              <a:chOff x="717212" y="5079862"/>
              <a:chExt cx="19949201" cy="758954"/>
            </a:xfrm>
          </p:grpSpPr>
          <p:pic>
            <p:nvPicPr>
              <p:cNvPr id="10" name="그림 9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7212" y="5079862"/>
                <a:ext cx="19949201" cy="758954"/>
              </a:xfrm>
              <a:prstGeom prst="rect">
                <a:avLst/>
              </a:prstGeom>
              <a:solidFill>
                <a:srgbClr val="FFFFFF"/>
              </a:solidFill>
            </p:spPr>
          </p:pic>
          <p:sp>
            <p:nvSpPr>
              <p:cNvPr id="4" name="TextBox 3"/>
              <p:cNvSpPr txBox="1"/>
              <p:nvPr/>
            </p:nvSpPr>
            <p:spPr>
              <a:xfrm>
                <a:off x="8582437" y="5197729"/>
                <a:ext cx="4218750" cy="584775"/>
              </a:xfrm>
              <a:prstGeom prst="rect">
                <a:avLst/>
              </a:prstGeom>
              <a:solidFill>
                <a:srgbClr val="F08213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3200" b="1" dirty="0">
                    <a:solidFill>
                      <a:schemeClr val="bg1"/>
                    </a:solidFill>
                  </a:rPr>
                  <a:t>제목 </a:t>
                </a:r>
                <a:r>
                  <a:rPr lang="en-US" altLang="ko-KR" sz="3200" b="1" dirty="0">
                    <a:solidFill>
                      <a:schemeClr val="bg1"/>
                    </a:solidFill>
                  </a:rPr>
                  <a:t>1</a:t>
                </a:r>
                <a:endParaRPr lang="ko-KR" altLang="en-US" sz="32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21364163" cy="6168822"/>
            </a:xfrm>
            <a:prstGeom prst="rect">
              <a:avLst/>
            </a:prstGeom>
          </p:spPr>
        </p:pic>
        <p:sp>
          <p:nvSpPr>
            <p:cNvPr id="3" name="TextBox 2"/>
            <p:cNvSpPr txBox="1"/>
            <p:nvPr/>
          </p:nvSpPr>
          <p:spPr>
            <a:xfrm>
              <a:off x="7099300" y="4254500"/>
              <a:ext cx="89639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b="1" spc="-150" dirty="0" err="1"/>
                <a:t>심두호</a:t>
              </a:r>
              <a:endParaRPr lang="ko-KR" altLang="en-US" sz="2000" b="1" spc="-150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8275300" y="4254500"/>
              <a:ext cx="9541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b="1" dirty="0"/>
                <a:t>최윤호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0909300" y="4254500"/>
              <a:ext cx="273985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b="1" dirty="0" err="1"/>
                <a:t>심여준</a:t>
              </a:r>
              <a:r>
                <a:rPr lang="en-US" altLang="ko-KR" sz="2000" b="1" dirty="0"/>
                <a:t>,</a:t>
              </a:r>
              <a:r>
                <a:rPr lang="ko-KR" altLang="en-US" sz="2000" b="1" dirty="0"/>
                <a:t> 최두환</a:t>
              </a:r>
              <a:r>
                <a:rPr lang="en-US" altLang="ko-KR" sz="2000" b="1" dirty="0"/>
                <a:t>, </a:t>
              </a:r>
              <a:r>
                <a:rPr lang="ko-KR" altLang="en-US" sz="2000" b="1" dirty="0"/>
                <a:t>유지호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959351" y="1471570"/>
              <a:ext cx="14452600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0" b="1" spc="-15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AWS</a:t>
              </a:r>
              <a:r>
                <a:rPr lang="ko-KR" altLang="en-US" sz="6000" b="1" spc="-15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 환경에서의 </a:t>
              </a:r>
              <a:r>
                <a:rPr lang="en-US" altLang="ko-KR" sz="6000" b="1" spc="-15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UEBA </a:t>
              </a:r>
              <a:r>
                <a:rPr lang="ko-KR" altLang="en-US" sz="6000" b="1" spc="-15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기반 사용자 행동 프로파일링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786715" y="1022377"/>
              <a:ext cx="2576090" cy="26468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6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Franklin Gothic Demi" panose="020B0703020102020204" pitchFamily="34" charset="0"/>
                  <a:ea typeface="+mj-ea"/>
                </a:rPr>
                <a:t>47</a:t>
              </a:r>
              <a:endParaRPr lang="ko-KR" altLang="en-US" sz="16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Demi" panose="020B0703020102020204" pitchFamily="34" charset="0"/>
                <a:ea typeface="+mj-ea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9722523" y="5420501"/>
              <a:ext cx="191911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3200" b="1" dirty="0">
                  <a:solidFill>
                    <a:schemeClr val="bg1"/>
                  </a:solidFill>
                </a:rPr>
                <a:t>과제 목표</a:t>
              </a:r>
            </a:p>
          </p:txBody>
        </p:sp>
      </p:grpSp>
      <p:grpSp>
        <p:nvGrpSpPr>
          <p:cNvPr id="26" name="그룹 25"/>
          <p:cNvGrpSpPr/>
          <p:nvPr/>
        </p:nvGrpSpPr>
        <p:grpSpPr>
          <a:xfrm>
            <a:off x="0" y="7778136"/>
            <a:ext cx="21383625" cy="902160"/>
            <a:chOff x="0" y="13314926"/>
            <a:chExt cx="21383625" cy="902160"/>
          </a:xfrm>
        </p:grpSpPr>
        <p:pic>
          <p:nvPicPr>
            <p:cNvPr id="12" name="그림 11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3314926"/>
              <a:ext cx="21383625" cy="902160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9732254" y="13469779"/>
              <a:ext cx="191911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3200" b="1" dirty="0">
                  <a:solidFill>
                    <a:schemeClr val="bg1"/>
                  </a:solidFill>
                </a:rPr>
                <a:t>과제 구성</a:t>
              </a:r>
            </a:p>
          </p:txBody>
        </p:sp>
      </p:grpSp>
      <p:grpSp>
        <p:nvGrpSpPr>
          <p:cNvPr id="30" name="그룹 29"/>
          <p:cNvGrpSpPr/>
          <p:nvPr/>
        </p:nvGrpSpPr>
        <p:grpSpPr>
          <a:xfrm>
            <a:off x="-53508" y="20391426"/>
            <a:ext cx="21383625" cy="1623956"/>
            <a:chOff x="0" y="21735025"/>
            <a:chExt cx="21383625" cy="1623956"/>
          </a:xfrm>
        </p:grpSpPr>
        <p:pic>
          <p:nvPicPr>
            <p:cNvPr id="28" name="그림 27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21735025"/>
              <a:ext cx="21383625" cy="902160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>
              <a:off x="9855286" y="22774206"/>
              <a:ext cx="191911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3200" b="1" dirty="0">
                  <a:solidFill>
                    <a:schemeClr val="bg1"/>
                  </a:solidFill>
                </a:rPr>
                <a:t>과제 결과</a:t>
              </a:r>
            </a:p>
          </p:txBody>
        </p:sp>
      </p:grpSp>
      <p:grpSp>
        <p:nvGrpSpPr>
          <p:cNvPr id="31" name="그룹 30"/>
          <p:cNvGrpSpPr/>
          <p:nvPr/>
        </p:nvGrpSpPr>
        <p:grpSpPr>
          <a:xfrm>
            <a:off x="0" y="28367267"/>
            <a:ext cx="21383625" cy="1907946"/>
            <a:chOff x="0" y="28367267"/>
            <a:chExt cx="21383625" cy="1907946"/>
          </a:xfrm>
        </p:grpSpPr>
        <p:pic>
          <p:nvPicPr>
            <p:cNvPr id="32" name="그림 31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28367267"/>
              <a:ext cx="21383625" cy="1907946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618674" y="28767317"/>
              <a:ext cx="1140056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solidFill>
                    <a:schemeClr val="bg1">
                      <a:lumMod val="50000"/>
                    </a:schemeClr>
                  </a:solidFill>
                  <a:latin typeface="Arial Black" panose="020B0A04020102020204" pitchFamily="34" charset="0"/>
                </a:rPr>
                <a:t>2025</a:t>
              </a:r>
              <a:endParaRPr lang="ko-KR" altLang="en-US" sz="2800" dirty="0">
                <a:solidFill>
                  <a:schemeClr val="bg1">
                    <a:lumMod val="50000"/>
                  </a:schemeClr>
                </a:solidFill>
                <a:latin typeface="Arial Black" panose="020B0A04020102020204" pitchFamily="34" charset="0"/>
              </a:endParaRPr>
            </a:p>
          </p:txBody>
        </p:sp>
      </p:grpSp>
      <p:sp>
        <p:nvSpPr>
          <p:cNvPr id="6" name="직사각형 5"/>
          <p:cNvSpPr/>
          <p:nvPr/>
        </p:nvSpPr>
        <p:spPr>
          <a:xfrm>
            <a:off x="14077950" y="28536900"/>
            <a:ext cx="3105150" cy="1181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C2E824-895F-1192-088A-D200AE82CB6D}"/>
              </a:ext>
            </a:extLst>
          </p:cNvPr>
          <p:cNvSpPr txBox="1"/>
          <p:nvPr/>
        </p:nvSpPr>
        <p:spPr>
          <a:xfrm>
            <a:off x="1029181" y="6291873"/>
            <a:ext cx="19218248" cy="1769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800" dirty="0"/>
              <a:t>클라우드 환경에서 정상 사용자 행동 패턴을 학습하여 </a:t>
            </a:r>
            <a:r>
              <a:rPr lang="ko-KR" altLang="en-US" sz="2800" b="1" dirty="0"/>
              <a:t>제로 트러스트 보안을 </a:t>
            </a:r>
            <a:r>
              <a:rPr lang="ko-KR" altLang="en-US" sz="2800" dirty="0"/>
              <a:t>실현한다</a:t>
            </a:r>
            <a:r>
              <a:rPr lang="en-US" altLang="ko-KR" sz="28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800" dirty="0"/>
              <a:t>초기 세션과 전체 세션을 구분하여</a:t>
            </a:r>
            <a:r>
              <a:rPr lang="en-US" altLang="ko-KR" sz="2800" dirty="0"/>
              <a:t>, </a:t>
            </a:r>
            <a:r>
              <a:rPr lang="ko-KR" altLang="en-US" sz="2800" dirty="0"/>
              <a:t>정상 사용자와 공격자의 </a:t>
            </a:r>
            <a:r>
              <a:rPr lang="ko-KR" altLang="en-US" sz="2800" b="1" dirty="0"/>
              <a:t>행동 편차</a:t>
            </a:r>
            <a:r>
              <a:rPr lang="ko-KR" altLang="en-US" sz="2800" dirty="0"/>
              <a:t>를 규명한다</a:t>
            </a:r>
            <a:r>
              <a:rPr lang="en-US" altLang="ko-KR" sz="28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800" dirty="0"/>
              <a:t>초기 세션을 별도 모델링함으로써 </a:t>
            </a:r>
            <a:r>
              <a:rPr lang="ko-KR" altLang="en-US" sz="2800" b="1" dirty="0"/>
              <a:t>조기 위협 탐지 가능성</a:t>
            </a:r>
            <a:r>
              <a:rPr lang="ko-KR" altLang="en-US" sz="2800" dirty="0"/>
              <a:t>을 확보한다</a:t>
            </a:r>
            <a:r>
              <a:rPr lang="en-US" altLang="ko-KR" sz="2800" dirty="0"/>
              <a:t>.</a:t>
            </a:r>
          </a:p>
          <a:p>
            <a:endParaRPr lang="en-US" altLang="ko-KR" sz="2500" spc="-150" dirty="0"/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73FAA509-5B9E-4FF2-B4E0-42688077A725}"/>
              </a:ext>
            </a:extLst>
          </p:cNvPr>
          <p:cNvGrpSpPr/>
          <p:nvPr/>
        </p:nvGrpSpPr>
        <p:grpSpPr>
          <a:xfrm>
            <a:off x="857889" y="8825198"/>
            <a:ext cx="8590910" cy="5096819"/>
            <a:chOff x="5806152" y="818890"/>
            <a:chExt cx="6385848" cy="3900831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8EBEE921-5025-CA11-C8BB-9047B6B8C512}"/>
                </a:ext>
              </a:extLst>
            </p:cNvPr>
            <p:cNvSpPr/>
            <p:nvPr/>
          </p:nvSpPr>
          <p:spPr>
            <a:xfrm>
              <a:off x="5806152" y="1006415"/>
              <a:ext cx="6159470" cy="3713306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16" name="Picture 20" descr="Optimize AWS IAM Security &amp; Access Control">
              <a:extLst>
                <a:ext uri="{FF2B5EF4-FFF2-40B4-BE49-F238E27FC236}">
                  <a16:creationId xmlns:a16="http://schemas.microsoft.com/office/drawing/2014/main" id="{4A0C8155-9E5C-2AB3-A739-8FE60733CE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66088" y="2549434"/>
              <a:ext cx="457201" cy="4572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E8581DA1-0C52-845F-BA16-6230055673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3027" y="3197686"/>
              <a:ext cx="0" cy="651001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A52557A-5386-A348-F838-4A23B8239F44}"/>
                </a:ext>
              </a:extLst>
            </p:cNvPr>
            <p:cNvSpPr txBox="1"/>
            <p:nvPr/>
          </p:nvSpPr>
          <p:spPr>
            <a:xfrm flipH="1">
              <a:off x="6537224" y="2583320"/>
              <a:ext cx="100040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/>
                <a:t> </a:t>
              </a:r>
              <a:r>
                <a:rPr lang="ko-KR" altLang="en-US" sz="900" b="1" dirty="0"/>
                <a:t>탐지 모델</a:t>
              </a:r>
              <a:r>
                <a:rPr lang="en-US" altLang="ko-KR" sz="900" b="1" dirty="0"/>
                <a:t> </a:t>
              </a:r>
              <a:r>
                <a:rPr lang="ko-KR" altLang="en-US" sz="900" b="1" dirty="0"/>
                <a:t>로드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13B3436-1F57-3CCD-CD7B-88D7F6300EEF}"/>
                </a:ext>
              </a:extLst>
            </p:cNvPr>
            <p:cNvSpPr txBox="1"/>
            <p:nvPr/>
          </p:nvSpPr>
          <p:spPr>
            <a:xfrm>
              <a:off x="8086830" y="3933287"/>
              <a:ext cx="78656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b="1" dirty="0"/>
                <a:t>Event </a:t>
              </a:r>
              <a:r>
                <a:rPr lang="ko-KR" altLang="en-US" sz="900" b="1" dirty="0"/>
                <a:t>저장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EAE6CC3-E4D9-97C8-8317-8ADF02ADD068}"/>
                </a:ext>
              </a:extLst>
            </p:cNvPr>
            <p:cNvSpPr txBox="1"/>
            <p:nvPr/>
          </p:nvSpPr>
          <p:spPr>
            <a:xfrm>
              <a:off x="8296442" y="3407771"/>
              <a:ext cx="92991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b="1" dirty="0"/>
                <a:t>Event</a:t>
              </a:r>
              <a:r>
                <a:rPr lang="ko-KR" altLang="en-US" sz="900" b="1" dirty="0"/>
                <a:t> 라우팅</a:t>
              </a:r>
            </a:p>
          </p:txBody>
        </p:sp>
        <p:pic>
          <p:nvPicPr>
            <p:cNvPr id="34" name="Picture 2" descr="AWS 기초부터 이해하기 | Amazon Web Service | Standing-O">
              <a:extLst>
                <a:ext uri="{FF2B5EF4-FFF2-40B4-BE49-F238E27FC236}">
                  <a16:creationId xmlns:a16="http://schemas.microsoft.com/office/drawing/2014/main" id="{5F578561-216D-8728-2DB5-E286B5C5FA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81535" y="818890"/>
              <a:ext cx="810465" cy="607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35" name="연결선: 꺾임 34">
              <a:extLst>
                <a:ext uri="{FF2B5EF4-FFF2-40B4-BE49-F238E27FC236}">
                  <a16:creationId xmlns:a16="http://schemas.microsoft.com/office/drawing/2014/main" id="{916337D4-82DF-6B69-2898-436062040FF7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10979322" y="2778035"/>
              <a:ext cx="386767" cy="1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>
                  <a:lumMod val="75000"/>
                  <a:lumOff val="25000"/>
                </a:schemeClr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6" name="Graphic 19" descr="Amazon EventBridge service icon.">
              <a:extLst>
                <a:ext uri="{FF2B5EF4-FFF2-40B4-BE49-F238E27FC236}">
                  <a16:creationId xmlns:a16="http://schemas.microsoft.com/office/drawing/2014/main" id="{C9CEEDD4-9CE4-268D-ADB6-41A6CE2D50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 bwMode="auto">
            <a:xfrm>
              <a:off x="8945086" y="2480262"/>
              <a:ext cx="517048" cy="54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" name="TextBox 11">
              <a:extLst>
                <a:ext uri="{FF2B5EF4-FFF2-40B4-BE49-F238E27FC236}">
                  <a16:creationId xmlns:a16="http://schemas.microsoft.com/office/drawing/2014/main" id="{01E5016D-0080-7159-DC91-FD7B2F6D5B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94877" y="3024455"/>
              <a:ext cx="1217466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8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Amazon EventBridge</a:t>
              </a:r>
            </a:p>
          </p:txBody>
        </p:sp>
        <p:pic>
          <p:nvPicPr>
            <p:cNvPr id="38" name="Graphic 23" descr="AWS CloudTrail service icon.">
              <a:extLst>
                <a:ext uri="{FF2B5EF4-FFF2-40B4-BE49-F238E27FC236}">
                  <a16:creationId xmlns:a16="http://schemas.microsoft.com/office/drawing/2014/main" id="{7D914400-EC89-8AAA-FF6A-01F8B3FF66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 bwMode="auto">
            <a:xfrm>
              <a:off x="10367610" y="2484145"/>
              <a:ext cx="540000" cy="5204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" name="TextBox 11">
              <a:extLst>
                <a:ext uri="{FF2B5EF4-FFF2-40B4-BE49-F238E27FC236}">
                  <a16:creationId xmlns:a16="http://schemas.microsoft.com/office/drawing/2014/main" id="{AE2A2866-D31B-BE48-6328-F6CE17DEAB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65462" y="2995675"/>
              <a:ext cx="990321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8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AWS CloudTrail</a:t>
              </a:r>
            </a:p>
          </p:txBody>
        </p:sp>
        <p:pic>
          <p:nvPicPr>
            <p:cNvPr id="40" name="Graphic 10" descr="AWS Lambda service icon.">
              <a:extLst>
                <a:ext uri="{FF2B5EF4-FFF2-40B4-BE49-F238E27FC236}">
                  <a16:creationId xmlns:a16="http://schemas.microsoft.com/office/drawing/2014/main" id="{122D5CA5-44E7-1C81-471F-B5402273EF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/>
            <a:stretch/>
          </p:blipFill>
          <p:spPr bwMode="auto">
            <a:xfrm>
              <a:off x="8933365" y="3883161"/>
              <a:ext cx="540490" cy="54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" name="TextBox 20">
              <a:extLst>
                <a:ext uri="{FF2B5EF4-FFF2-40B4-BE49-F238E27FC236}">
                  <a16:creationId xmlns:a16="http://schemas.microsoft.com/office/drawing/2014/main" id="{93A3C4B2-4D34-572F-5441-5A1F4AF43E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07944" y="4416470"/>
              <a:ext cx="1232618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8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AWS Lambda</a:t>
              </a:r>
            </a:p>
          </p:txBody>
        </p:sp>
        <p:pic>
          <p:nvPicPr>
            <p:cNvPr id="42" name="Graphic 23" descr="Amazon DynamoDB service icon.">
              <a:extLst>
                <a:ext uri="{FF2B5EF4-FFF2-40B4-BE49-F238E27FC236}">
                  <a16:creationId xmlns:a16="http://schemas.microsoft.com/office/drawing/2014/main" id="{EBEDAC03-84AF-0986-FADE-3B08567801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/>
            <a:stretch/>
          </p:blipFill>
          <p:spPr bwMode="auto">
            <a:xfrm>
              <a:off x="7490166" y="3882009"/>
              <a:ext cx="540000" cy="542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3" name="TextBox 12">
              <a:extLst>
                <a:ext uri="{FF2B5EF4-FFF2-40B4-BE49-F238E27FC236}">
                  <a16:creationId xmlns:a16="http://schemas.microsoft.com/office/drawing/2014/main" id="{623FFE71-3E8B-83D1-8697-C818050A0D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68242" y="4407525"/>
              <a:ext cx="1166429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8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Amazon DynamoDB</a:t>
              </a:r>
            </a:p>
          </p:txBody>
        </p:sp>
        <p:sp>
          <p:nvSpPr>
            <p:cNvPr id="44" name="TextBox 12">
              <a:extLst>
                <a:ext uri="{FF2B5EF4-FFF2-40B4-BE49-F238E27FC236}">
                  <a16:creationId xmlns:a16="http://schemas.microsoft.com/office/drawing/2014/main" id="{9AF43287-6322-0C3A-4BDE-0318DA6F1F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09535" y="1845536"/>
              <a:ext cx="656150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ko-KR" sz="8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AWS IAM</a:t>
              </a:r>
              <a:endPara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5" name="Graphic 19" descr="AWS Identity and Access Management (IAM) service icon.">
              <a:extLst>
                <a:ext uri="{FF2B5EF4-FFF2-40B4-BE49-F238E27FC236}">
                  <a16:creationId xmlns:a16="http://schemas.microsoft.com/office/drawing/2014/main" id="{BB9FA086-FA25-2A8D-E5B4-CE1D1C19C5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/>
            <a:stretch/>
          </p:blipFill>
          <p:spPr bwMode="auto">
            <a:xfrm>
              <a:off x="10367610" y="1310016"/>
              <a:ext cx="540000" cy="54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07B41D9D-3A40-5501-029C-3B9DCA0B9B6F}"/>
                </a:ext>
              </a:extLst>
            </p:cNvPr>
            <p:cNvSpPr txBox="1"/>
            <p:nvPr/>
          </p:nvSpPr>
          <p:spPr>
            <a:xfrm>
              <a:off x="8465500" y="1218711"/>
              <a:ext cx="11193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b="1" dirty="0"/>
                <a:t>이상 탐지 시</a:t>
              </a:r>
              <a:endParaRPr lang="en-US" altLang="ko-KR" sz="900" b="1" dirty="0"/>
            </a:p>
            <a:p>
              <a:pPr algn="ctr"/>
              <a:r>
                <a:rPr lang="ko-KR" altLang="en-US" sz="900" b="1" dirty="0"/>
                <a:t>계정 차단 요청</a:t>
              </a:r>
            </a:p>
          </p:txBody>
        </p:sp>
        <p:cxnSp>
          <p:nvCxnSpPr>
            <p:cNvPr id="47" name="연결선: 꺾임 46">
              <a:extLst>
                <a:ext uri="{FF2B5EF4-FFF2-40B4-BE49-F238E27FC236}">
                  <a16:creationId xmlns:a16="http://schemas.microsoft.com/office/drawing/2014/main" id="{990D9064-244A-B023-6F54-5FC2CFFCF169}"/>
                </a:ext>
              </a:extLst>
            </p:cNvPr>
            <p:cNvCxnSpPr>
              <a:cxnSpLocks/>
              <a:stCxn id="45" idx="3"/>
              <a:endCxn id="16" idx="0"/>
            </p:cNvCxnSpPr>
            <p:nvPr/>
          </p:nvCxnSpPr>
          <p:spPr>
            <a:xfrm>
              <a:off x="10907610" y="1580016"/>
              <a:ext cx="687079" cy="969418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4BD4AAC-B5DE-AE91-EF16-3ECA6828A687}"/>
                </a:ext>
              </a:extLst>
            </p:cNvPr>
            <p:cNvSpPr txBox="1"/>
            <p:nvPr/>
          </p:nvSpPr>
          <p:spPr>
            <a:xfrm>
              <a:off x="10879953" y="1304475"/>
              <a:ext cx="81046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b="1" dirty="0"/>
                <a:t>계정 차단</a:t>
              </a:r>
            </a:p>
          </p:txBody>
        </p:sp>
        <p:cxnSp>
          <p:nvCxnSpPr>
            <p:cNvPr id="49" name="직선 화살표 연결선 48">
              <a:extLst>
                <a:ext uri="{FF2B5EF4-FFF2-40B4-BE49-F238E27FC236}">
                  <a16:creationId xmlns:a16="http://schemas.microsoft.com/office/drawing/2014/main" id="{D5505003-86B2-2A5C-4352-63BFD57F69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51206" y="2814838"/>
              <a:ext cx="757340" cy="0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0" name="Graphic 8" descr="Amazon Simple Storage Service (Amazon S3) service icon.">
              <a:extLst>
                <a:ext uri="{FF2B5EF4-FFF2-40B4-BE49-F238E27FC236}">
                  <a16:creationId xmlns:a16="http://schemas.microsoft.com/office/drawing/2014/main" id="{E67D6C74-17FE-DAE7-F96F-B5E85CAAC0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rcRect/>
            <a:stretch/>
          </p:blipFill>
          <p:spPr bwMode="auto">
            <a:xfrm>
              <a:off x="10373747" y="3906387"/>
              <a:ext cx="540000" cy="54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1" name="TextBox 11">
              <a:extLst>
                <a:ext uri="{FF2B5EF4-FFF2-40B4-BE49-F238E27FC236}">
                  <a16:creationId xmlns:a16="http://schemas.microsoft.com/office/drawing/2014/main" id="{80B8F1D0-0704-C0DA-347A-F4019A187C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48586" y="4423161"/>
              <a:ext cx="990321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8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AWS S3</a:t>
              </a:r>
            </a:p>
          </p:txBody>
        </p:sp>
        <p:cxnSp>
          <p:nvCxnSpPr>
            <p:cNvPr id="52" name="직선 화살표 연결선 51">
              <a:extLst>
                <a:ext uri="{FF2B5EF4-FFF2-40B4-BE49-F238E27FC236}">
                  <a16:creationId xmlns:a16="http://schemas.microsoft.com/office/drawing/2014/main" id="{A6F03FB1-1BDA-43B1-C37A-4D402C08F215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10331610" y="3531464"/>
              <a:ext cx="612000" cy="0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B77A6B01-D039-71D1-BFC7-87073798A5EB}"/>
                </a:ext>
              </a:extLst>
            </p:cNvPr>
            <p:cNvSpPr txBox="1"/>
            <p:nvPr/>
          </p:nvSpPr>
          <p:spPr>
            <a:xfrm>
              <a:off x="9830384" y="3411878"/>
              <a:ext cx="76531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/>
                <a:t>Event </a:t>
              </a:r>
              <a:r>
                <a:rPr lang="ko-KR" altLang="en-US" sz="900" b="1" dirty="0"/>
                <a:t>백업</a:t>
              </a:r>
            </a:p>
          </p:txBody>
        </p:sp>
        <p:cxnSp>
          <p:nvCxnSpPr>
            <p:cNvPr id="54" name="직선 화살표 연결선 53">
              <a:extLst>
                <a:ext uri="{FF2B5EF4-FFF2-40B4-BE49-F238E27FC236}">
                  <a16:creationId xmlns:a16="http://schemas.microsoft.com/office/drawing/2014/main" id="{25438935-4B6D-F319-2CA5-0EE81ED4D3B0}"/>
                </a:ext>
              </a:extLst>
            </p:cNvPr>
            <p:cNvCxnSpPr>
              <a:cxnSpLocks/>
            </p:cNvCxnSpPr>
            <p:nvPr/>
          </p:nvCxnSpPr>
          <p:spPr>
            <a:xfrm>
              <a:off x="9214580" y="3201793"/>
              <a:ext cx="0" cy="651001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직선 화살표 연결선 54">
              <a:extLst>
                <a:ext uri="{FF2B5EF4-FFF2-40B4-BE49-F238E27FC236}">
                  <a16:creationId xmlns:a16="http://schemas.microsoft.com/office/drawing/2014/main" id="{AF5E3100-B475-FAC9-8F3D-77ACC1D7B0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86830" y="4178588"/>
              <a:ext cx="757340" cy="0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6" name="Graphic 10" descr="AWS Lambda service icon.">
              <a:extLst>
                <a:ext uri="{FF2B5EF4-FFF2-40B4-BE49-F238E27FC236}">
                  <a16:creationId xmlns:a16="http://schemas.microsoft.com/office/drawing/2014/main" id="{2827A71C-A18A-21DC-0D74-5528BACE2E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/>
            <a:stretch/>
          </p:blipFill>
          <p:spPr bwMode="auto">
            <a:xfrm>
              <a:off x="7490166" y="2494239"/>
              <a:ext cx="540490" cy="54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7" name="TextBox 20">
              <a:extLst>
                <a:ext uri="{FF2B5EF4-FFF2-40B4-BE49-F238E27FC236}">
                  <a16:creationId xmlns:a16="http://schemas.microsoft.com/office/drawing/2014/main" id="{B7FAD47D-7A47-5D0D-63C2-B81E969D89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53301" y="3024455"/>
              <a:ext cx="1232618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8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AWS Lambda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4002E6B8-5DF9-CCC8-3578-2CE11E2CC464}"/>
                </a:ext>
              </a:extLst>
            </p:cNvPr>
            <p:cNvSpPr txBox="1"/>
            <p:nvPr/>
          </p:nvSpPr>
          <p:spPr>
            <a:xfrm>
              <a:off x="6750841" y="3441361"/>
              <a:ext cx="100040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b="1" dirty="0"/>
                <a:t>이상탐지 실행</a:t>
              </a:r>
            </a:p>
          </p:txBody>
        </p:sp>
        <p:pic>
          <p:nvPicPr>
            <p:cNvPr id="59" name="Graphic 8" descr="Amazon Simple Storage Service (Amazon S3) service icon.">
              <a:extLst>
                <a:ext uri="{FF2B5EF4-FFF2-40B4-BE49-F238E27FC236}">
                  <a16:creationId xmlns:a16="http://schemas.microsoft.com/office/drawing/2014/main" id="{2A32908A-89C5-41E0-3E84-74DA317977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rcRect/>
            <a:stretch/>
          </p:blipFill>
          <p:spPr bwMode="auto">
            <a:xfrm>
              <a:off x="6031313" y="2489596"/>
              <a:ext cx="540000" cy="54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0" name="TextBox 11">
              <a:extLst>
                <a:ext uri="{FF2B5EF4-FFF2-40B4-BE49-F238E27FC236}">
                  <a16:creationId xmlns:a16="http://schemas.microsoft.com/office/drawing/2014/main" id="{B5C9323E-9D93-4A9E-0488-187269CEF7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06152" y="3006370"/>
              <a:ext cx="990321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8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AWS S3</a:t>
              </a:r>
            </a:p>
          </p:txBody>
        </p:sp>
        <p:cxnSp>
          <p:nvCxnSpPr>
            <p:cNvPr id="61" name="연결선: 꺾임 60">
              <a:extLst>
                <a:ext uri="{FF2B5EF4-FFF2-40B4-BE49-F238E27FC236}">
                  <a16:creationId xmlns:a16="http://schemas.microsoft.com/office/drawing/2014/main" id="{BC057E34-064E-4C78-86BC-448B3C5A73F5}"/>
                </a:ext>
              </a:extLst>
            </p:cNvPr>
            <p:cNvCxnSpPr>
              <a:cxnSpLocks/>
              <a:stCxn id="56" idx="0"/>
              <a:endCxn id="45" idx="1"/>
            </p:cNvCxnSpPr>
            <p:nvPr/>
          </p:nvCxnSpPr>
          <p:spPr>
            <a:xfrm rot="5400000" flipH="1" flipV="1">
              <a:off x="8606899" y="733529"/>
              <a:ext cx="914223" cy="2607199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F60FC215-D69A-1CBE-AD23-A8FC9F227115}"/>
                </a:ext>
              </a:extLst>
            </p:cNvPr>
            <p:cNvSpPr txBox="1"/>
            <p:nvPr/>
          </p:nvSpPr>
          <p:spPr>
            <a:xfrm>
              <a:off x="9521590" y="2592761"/>
              <a:ext cx="78656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b="1" dirty="0"/>
                <a:t>Event </a:t>
              </a:r>
              <a:r>
                <a:rPr lang="ko-KR" altLang="en-US" sz="900" b="1" dirty="0"/>
                <a:t>수집</a:t>
              </a:r>
            </a:p>
          </p:txBody>
        </p:sp>
        <p:cxnSp>
          <p:nvCxnSpPr>
            <p:cNvPr id="63" name="직선 화살표 연결선 62">
              <a:extLst>
                <a:ext uri="{FF2B5EF4-FFF2-40B4-BE49-F238E27FC236}">
                  <a16:creationId xmlns:a16="http://schemas.microsoft.com/office/drawing/2014/main" id="{9B24D674-79EB-654E-0635-34236D08B76C}"/>
                </a:ext>
              </a:extLst>
            </p:cNvPr>
            <p:cNvCxnSpPr>
              <a:cxnSpLocks/>
            </p:cNvCxnSpPr>
            <p:nvPr/>
          </p:nvCxnSpPr>
          <p:spPr>
            <a:xfrm>
              <a:off x="9521590" y="2838062"/>
              <a:ext cx="757340" cy="0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연결선: 꺾임 63">
              <a:extLst>
                <a:ext uri="{FF2B5EF4-FFF2-40B4-BE49-F238E27FC236}">
                  <a16:creationId xmlns:a16="http://schemas.microsoft.com/office/drawing/2014/main" id="{62D229CC-01C4-BE02-0524-CE91A6B96825}"/>
                </a:ext>
              </a:extLst>
            </p:cNvPr>
            <p:cNvCxnSpPr>
              <a:cxnSpLocks/>
              <a:stCxn id="56" idx="0"/>
              <a:endCxn id="59" idx="0"/>
            </p:cNvCxnSpPr>
            <p:nvPr/>
          </p:nvCxnSpPr>
          <p:spPr>
            <a:xfrm rot="16200000" flipV="1">
              <a:off x="7028541" y="1762369"/>
              <a:ext cx="4643" cy="1459098"/>
            </a:xfrm>
            <a:prstGeom prst="bentConnector3">
              <a:avLst>
                <a:gd name="adj1" fmla="val 19580056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960D314E-FF02-70CC-25D1-A6D0E0F93691}"/>
                </a:ext>
              </a:extLst>
            </p:cNvPr>
            <p:cNvSpPr txBox="1"/>
            <p:nvPr/>
          </p:nvSpPr>
          <p:spPr>
            <a:xfrm>
              <a:off x="6549586" y="1335458"/>
              <a:ext cx="111930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b="1" dirty="0"/>
                <a:t>탐지 결과 저장</a:t>
              </a:r>
            </a:p>
          </p:txBody>
        </p:sp>
      </p:grpSp>
      <p:pic>
        <p:nvPicPr>
          <p:cNvPr id="67" name="그림 66" descr="텍스트, 스크린샷, 도표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4A0DFD9-CE74-539F-6A48-6C75A2C260E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1270" y="9031986"/>
            <a:ext cx="11042753" cy="11123175"/>
          </a:xfrm>
          <a:prstGeom prst="rect">
            <a:avLst/>
          </a:prstGeom>
        </p:spPr>
      </p:pic>
      <p:graphicFrame>
        <p:nvGraphicFramePr>
          <p:cNvPr id="82" name="표 81">
            <a:extLst>
              <a:ext uri="{FF2B5EF4-FFF2-40B4-BE49-F238E27FC236}">
                <a16:creationId xmlns:a16="http://schemas.microsoft.com/office/drawing/2014/main" id="{2A6CF395-0875-DAFE-1683-5EEE717DC4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5184352"/>
              </p:ext>
            </p:extLst>
          </p:nvPr>
        </p:nvGraphicFramePr>
        <p:xfrm>
          <a:off x="731297" y="14170134"/>
          <a:ext cx="8576826" cy="2834640"/>
        </p:xfrm>
        <a:graphic>
          <a:graphicData uri="http://schemas.openxmlformats.org/drawingml/2006/table">
            <a:tbl>
              <a:tblPr>
                <a:tableStyleId>{5FD0F851-EC5A-4D38-B0AD-8093EC10F338}</a:tableStyleId>
              </a:tblPr>
              <a:tblGrid>
                <a:gridCol w="2298505">
                  <a:extLst>
                    <a:ext uri="{9D8B030D-6E8A-4147-A177-3AD203B41FA5}">
                      <a16:colId xmlns:a16="http://schemas.microsoft.com/office/drawing/2014/main" val="3298720249"/>
                    </a:ext>
                  </a:extLst>
                </a:gridCol>
                <a:gridCol w="6278321">
                  <a:extLst>
                    <a:ext uri="{9D8B030D-6E8A-4147-A177-3AD203B41FA5}">
                      <a16:colId xmlns:a16="http://schemas.microsoft.com/office/drawing/2014/main" val="2402435463"/>
                    </a:ext>
                  </a:extLst>
                </a:gridCol>
              </a:tblGrid>
              <a:tr h="1503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500" b="1" dirty="0"/>
                        <a:t>구성요소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500" b="1" dirty="0"/>
                        <a:t>역할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476086"/>
                  </a:ext>
                </a:extLst>
              </a:tr>
              <a:tr h="1503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500" b="1" dirty="0"/>
                        <a:t>CloudTrail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500" dirty="0"/>
                        <a:t>사용자의 호출 </a:t>
                      </a:r>
                      <a:r>
                        <a:rPr lang="en-US" altLang="ko-KR" sz="2500" dirty="0"/>
                        <a:t>API </a:t>
                      </a:r>
                      <a:r>
                        <a:rPr lang="ko-KR" altLang="en-US" sz="2500" dirty="0"/>
                        <a:t>캡쳐 및 이벤트 전송</a:t>
                      </a:r>
                      <a:endParaRPr lang="en-US" altLang="ko-KR" sz="2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152066"/>
                  </a:ext>
                </a:extLst>
              </a:tr>
              <a:tr h="1503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500" b="1" dirty="0" err="1"/>
                        <a:t>EventBridge</a:t>
                      </a:r>
                      <a:endParaRPr lang="en-US" sz="25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500" dirty="0"/>
                        <a:t>이벤트 라우팅</a:t>
                      </a:r>
                      <a:r>
                        <a:rPr lang="en-US" altLang="ko-KR" sz="2500" dirty="0"/>
                        <a:t>·</a:t>
                      </a:r>
                      <a:r>
                        <a:rPr lang="ko-KR" altLang="en-US" sz="2500" dirty="0"/>
                        <a:t>필터링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1765149"/>
                  </a:ext>
                </a:extLst>
              </a:tr>
              <a:tr h="1503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500" b="1" dirty="0"/>
                        <a:t>Lambda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500" dirty="0"/>
                        <a:t>이벤트 저장</a:t>
                      </a:r>
                      <a:r>
                        <a:rPr lang="en-US" altLang="ko-KR" sz="2500" dirty="0"/>
                        <a:t>,</a:t>
                      </a:r>
                      <a:r>
                        <a:rPr lang="ko-KR" altLang="en-US" sz="2500" dirty="0"/>
                        <a:t> 세션 구분 후 이상탐지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9298607"/>
                  </a:ext>
                </a:extLst>
              </a:tr>
              <a:tr h="1503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500" b="1" dirty="0"/>
                        <a:t>DynamoDB/S3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500" dirty="0"/>
                        <a:t>사용자별 이벤트 저장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5480813"/>
                  </a:ext>
                </a:extLst>
              </a:tr>
              <a:tr h="1503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500" b="1" dirty="0"/>
                        <a:t>IAM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500" dirty="0"/>
                        <a:t>이상탐지 시 계정 차단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3217661"/>
                  </a:ext>
                </a:extLst>
              </a:tr>
            </a:tbl>
          </a:graphicData>
        </a:graphic>
      </p:graphicFrame>
      <p:graphicFrame>
        <p:nvGraphicFramePr>
          <p:cNvPr id="83" name="표 82">
            <a:extLst>
              <a:ext uri="{FF2B5EF4-FFF2-40B4-BE49-F238E27FC236}">
                <a16:creationId xmlns:a16="http://schemas.microsoft.com/office/drawing/2014/main" id="{D892D074-CEE2-2BE3-2D7B-7A9A5916FA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345284"/>
              </p:ext>
            </p:extLst>
          </p:nvPr>
        </p:nvGraphicFramePr>
        <p:xfrm>
          <a:off x="717211" y="17763538"/>
          <a:ext cx="8604456" cy="2362200"/>
        </p:xfrm>
        <a:graphic>
          <a:graphicData uri="http://schemas.openxmlformats.org/drawingml/2006/table">
            <a:tbl>
              <a:tblPr/>
              <a:tblGrid>
                <a:gridCol w="2307343">
                  <a:extLst>
                    <a:ext uri="{9D8B030D-6E8A-4147-A177-3AD203B41FA5}">
                      <a16:colId xmlns:a16="http://schemas.microsoft.com/office/drawing/2014/main" val="2382593876"/>
                    </a:ext>
                  </a:extLst>
                </a:gridCol>
                <a:gridCol w="6297113">
                  <a:extLst>
                    <a:ext uri="{9D8B030D-6E8A-4147-A177-3AD203B41FA5}">
                      <a16:colId xmlns:a16="http://schemas.microsoft.com/office/drawing/2014/main" val="2392109943"/>
                    </a:ext>
                  </a:extLst>
                </a:gridCol>
              </a:tblGrid>
              <a:tr h="4424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500" b="1" dirty="0"/>
                        <a:t>단계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500" b="1" dirty="0"/>
                        <a:t>핵심 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573560"/>
                  </a:ext>
                </a:extLst>
              </a:tr>
              <a:tr h="4424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500" b="1" dirty="0"/>
                        <a:t>세션분리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500" dirty="0"/>
                        <a:t>사용자의 </a:t>
                      </a:r>
                      <a:r>
                        <a:rPr lang="en-US" altLang="ko-KR" sz="2500" dirty="0"/>
                        <a:t>AWS </a:t>
                      </a:r>
                      <a:r>
                        <a:rPr lang="ko-KR" altLang="en-US" sz="2500" dirty="0"/>
                        <a:t>진입 </a:t>
                      </a:r>
                      <a:r>
                        <a:rPr lang="en-US" altLang="ko-KR" sz="2500" dirty="0"/>
                        <a:t>or  </a:t>
                      </a:r>
                      <a:r>
                        <a:rPr lang="en-US" altLang="ko-KR" sz="2500" dirty="0" err="1"/>
                        <a:t>Δt</a:t>
                      </a:r>
                      <a:r>
                        <a:rPr lang="en-US" altLang="ko-KR" sz="2500" dirty="0"/>
                        <a:t> ≥ 30</a:t>
                      </a:r>
                      <a:r>
                        <a:rPr lang="ko-KR" altLang="en-US" sz="2500" dirty="0"/>
                        <a:t>분 시 새 세션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3843232"/>
                  </a:ext>
                </a:extLst>
              </a:tr>
              <a:tr h="4424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500" b="1" dirty="0" err="1"/>
                        <a:t>윈도잉</a:t>
                      </a:r>
                      <a:endParaRPr lang="ko-KR" altLang="en-US" sz="25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/>
                        <a:t>window=20</a:t>
                      </a:r>
                      <a:r>
                        <a:rPr lang="en-US" altLang="ko-KR" sz="2500" dirty="0"/>
                        <a:t>, stride= 5 (</a:t>
                      </a:r>
                      <a:r>
                        <a:rPr lang="ko-KR" altLang="en-US" sz="2500" dirty="0"/>
                        <a:t>초기</a:t>
                      </a:r>
                      <a:r>
                        <a:rPr lang="en-US" altLang="ko-KR" sz="2500" dirty="0"/>
                        <a:t>), 1 (</a:t>
                      </a:r>
                      <a:r>
                        <a:rPr lang="ko-KR" altLang="en-US" sz="2500" dirty="0"/>
                        <a:t>전체</a:t>
                      </a:r>
                      <a:r>
                        <a:rPr lang="en-US" altLang="ko-KR" sz="2500" dirty="0"/>
                        <a:t>)</a:t>
                      </a:r>
                      <a:endParaRPr lang="en-US" sz="2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6874388"/>
                  </a:ext>
                </a:extLst>
              </a:tr>
              <a:tr h="4424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500" b="1" dirty="0" err="1"/>
                        <a:t>임베딩</a:t>
                      </a:r>
                      <a:endParaRPr lang="ko-KR" altLang="en-US" sz="25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/>
                        <a:t>Doc2Vec (64</a:t>
                      </a:r>
                      <a:r>
                        <a:rPr lang="ko-KR" altLang="en-US" sz="2500" dirty="0"/>
                        <a:t>차원</a:t>
                      </a:r>
                      <a:r>
                        <a:rPr lang="en-US" altLang="ko-KR" sz="2500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4966771"/>
                  </a:ext>
                </a:extLst>
              </a:tr>
              <a:tr h="4424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500" b="1" dirty="0"/>
                        <a:t>탐지모델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/>
                        <a:t>One-Class SVM (</a:t>
                      </a:r>
                      <a:r>
                        <a:rPr lang="ko-KR" altLang="en-US" sz="2500" dirty="0"/>
                        <a:t>초기</a:t>
                      </a:r>
                      <a:r>
                        <a:rPr lang="en-US" sz="2500" dirty="0"/>
                        <a:t>), DBSCAN (</a:t>
                      </a:r>
                      <a:r>
                        <a:rPr lang="ko-KR" altLang="en-US" sz="2500" dirty="0"/>
                        <a:t>전체</a:t>
                      </a:r>
                      <a:r>
                        <a:rPr lang="en-US" sz="2500" dirty="0"/>
                        <a:t>)</a:t>
                      </a:r>
                      <a:endParaRPr lang="ko-KR" altLang="en-US" sz="2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9213254"/>
                  </a:ext>
                </a:extLst>
              </a:tr>
            </a:tbl>
          </a:graphicData>
        </a:graphic>
      </p:graphicFrame>
      <p:sp>
        <p:nvSpPr>
          <p:cNvPr id="84" name="TextBox 83">
            <a:extLst>
              <a:ext uri="{FF2B5EF4-FFF2-40B4-BE49-F238E27FC236}">
                <a16:creationId xmlns:a16="http://schemas.microsoft.com/office/drawing/2014/main" id="{18D0E456-321C-2D43-6B66-0D942CFA85FB}"/>
              </a:ext>
            </a:extLst>
          </p:cNvPr>
          <p:cNvSpPr txBox="1"/>
          <p:nvPr/>
        </p:nvSpPr>
        <p:spPr>
          <a:xfrm>
            <a:off x="717212" y="8484525"/>
            <a:ext cx="1885453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500" b="1" dirty="0"/>
              <a:t>이상 탐지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EEB0D49-18AB-75EA-C553-A8F807A88B46}"/>
              </a:ext>
            </a:extLst>
          </p:cNvPr>
          <p:cNvSpPr txBox="1"/>
          <p:nvPr/>
        </p:nvSpPr>
        <p:spPr>
          <a:xfrm>
            <a:off x="731297" y="17290460"/>
            <a:ext cx="1492716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500" b="1" dirty="0"/>
              <a:t>모델링</a:t>
            </a:r>
          </a:p>
        </p:txBody>
      </p: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611CE97E-4799-223C-D8E0-45F1FB6007A4}"/>
              </a:ext>
            </a:extLst>
          </p:cNvPr>
          <p:cNvCxnSpPr>
            <a:cxnSpLocks/>
          </p:cNvCxnSpPr>
          <p:nvPr/>
        </p:nvCxnSpPr>
        <p:spPr>
          <a:xfrm>
            <a:off x="9684546" y="9141014"/>
            <a:ext cx="0" cy="11154823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96" name="그림 95">
            <a:extLst>
              <a:ext uri="{FF2B5EF4-FFF2-40B4-BE49-F238E27FC236}">
                <a16:creationId xmlns:a16="http://schemas.microsoft.com/office/drawing/2014/main" id="{B98EBFFC-DC67-CCDD-5D5E-F9985EEE94F3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5030949" y="21692058"/>
            <a:ext cx="5425971" cy="4555659"/>
          </a:xfrm>
          <a:prstGeom prst="rect">
            <a:avLst/>
          </a:prstGeom>
        </p:spPr>
      </p:pic>
      <p:sp>
        <p:nvSpPr>
          <p:cNvPr id="97" name="TextBox 96">
            <a:extLst>
              <a:ext uri="{FF2B5EF4-FFF2-40B4-BE49-F238E27FC236}">
                <a16:creationId xmlns:a16="http://schemas.microsoft.com/office/drawing/2014/main" id="{E49174CF-F331-E3D1-EA58-731BAC0326BB}"/>
              </a:ext>
            </a:extLst>
          </p:cNvPr>
          <p:cNvSpPr txBox="1"/>
          <p:nvPr/>
        </p:nvSpPr>
        <p:spPr>
          <a:xfrm>
            <a:off x="9732254" y="20620456"/>
            <a:ext cx="19191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>
                <a:solidFill>
                  <a:schemeClr val="bg1"/>
                </a:solidFill>
              </a:rPr>
              <a:t>과제 결과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97B75D89-73D0-625B-F840-EDC7C1885712}"/>
              </a:ext>
            </a:extLst>
          </p:cNvPr>
          <p:cNvSpPr txBox="1"/>
          <p:nvPr/>
        </p:nvSpPr>
        <p:spPr>
          <a:xfrm>
            <a:off x="181425" y="21319231"/>
            <a:ext cx="733688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500" b="1" dirty="0"/>
              <a:t>초기 세션 패턴 </a:t>
            </a:r>
            <a:r>
              <a:rPr lang="en-US" altLang="ko-KR" sz="2500" b="1" dirty="0"/>
              <a:t>– DoC2Vec(64D) -&gt; PCA(2D) </a:t>
            </a:r>
            <a:r>
              <a:rPr lang="ko-KR" altLang="en-US" sz="2500" b="1" dirty="0"/>
              <a:t>시각화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9A79ABD0-EED8-9F60-779B-F9E0CA08405F}"/>
              </a:ext>
            </a:extLst>
          </p:cNvPr>
          <p:cNvSpPr txBox="1"/>
          <p:nvPr/>
        </p:nvSpPr>
        <p:spPr>
          <a:xfrm>
            <a:off x="8669789" y="21319231"/>
            <a:ext cx="4317144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500" b="1" dirty="0"/>
              <a:t>OCSVM </a:t>
            </a:r>
            <a:r>
              <a:rPr lang="ko-KR" altLang="en-US" sz="2500" b="1" dirty="0"/>
              <a:t>의사결정 점수 분포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966937C-DAE1-3920-03E7-9B0F6EB574BC}"/>
              </a:ext>
            </a:extLst>
          </p:cNvPr>
          <p:cNvSpPr txBox="1"/>
          <p:nvPr/>
        </p:nvSpPr>
        <p:spPr>
          <a:xfrm>
            <a:off x="14605864" y="21319231"/>
            <a:ext cx="627614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500" b="1" dirty="0"/>
              <a:t>최종 성능 요약 </a:t>
            </a:r>
            <a:r>
              <a:rPr lang="en-US" altLang="ko-KR" sz="2500" b="1" dirty="0"/>
              <a:t>– OCSVM Confusion Matrix</a:t>
            </a:r>
            <a:endParaRPr lang="ko-KR" altLang="en-US" sz="2500" b="1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C1E17A00-F45F-E3D2-534D-A433276DF727}"/>
              </a:ext>
            </a:extLst>
          </p:cNvPr>
          <p:cNvSpPr txBox="1"/>
          <p:nvPr/>
        </p:nvSpPr>
        <p:spPr>
          <a:xfrm>
            <a:off x="717212" y="26198998"/>
            <a:ext cx="19530218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800" dirty="0"/>
              <a:t>전체 세션에서는 정상</a:t>
            </a:r>
            <a:r>
              <a:rPr lang="en-US" altLang="ko-KR" sz="2800" dirty="0"/>
              <a:t>·</a:t>
            </a:r>
            <a:r>
              <a:rPr lang="ko-KR" altLang="en-US" sz="2800" dirty="0"/>
              <a:t>공격자 분리가 불명확했으나</a:t>
            </a:r>
            <a:r>
              <a:rPr lang="en-US" altLang="ko-KR" sz="2800" dirty="0"/>
              <a:t>, </a:t>
            </a:r>
            <a:r>
              <a:rPr lang="ko-KR" altLang="en-US" sz="2800" b="1" dirty="0"/>
              <a:t>초기 세션</a:t>
            </a:r>
            <a:r>
              <a:rPr lang="ko-KR" altLang="en-US" sz="2800" dirty="0"/>
              <a:t>에서는 정상 사용자가 응집된 군집을 보이고 공격자는 산개하는 분포를 보여 </a:t>
            </a:r>
            <a:r>
              <a:rPr lang="ko-KR" altLang="en-US" sz="2800" b="1" dirty="0"/>
              <a:t>조기 위협 탐지 가능성을 </a:t>
            </a:r>
            <a:r>
              <a:rPr lang="ko-KR" altLang="en-US" sz="2800" dirty="0"/>
              <a:t>확인하였다</a:t>
            </a:r>
            <a:r>
              <a:rPr lang="en-US" altLang="ko-KR" sz="28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800" dirty="0"/>
              <a:t>OCSVM</a:t>
            </a:r>
            <a:r>
              <a:rPr lang="ko-KR" altLang="en-US" sz="2800" dirty="0"/>
              <a:t>의 의사결정 점수 분포를 기반으로 임계치를 조정하여</a:t>
            </a:r>
            <a:r>
              <a:rPr lang="en-US" altLang="ko-KR" sz="2800" dirty="0"/>
              <a:t>, </a:t>
            </a:r>
            <a:r>
              <a:rPr lang="ko-KR" altLang="en-US" sz="2800" b="1" dirty="0"/>
              <a:t>탐지 경계의 안정성</a:t>
            </a:r>
            <a:r>
              <a:rPr lang="ko-KR" altLang="en-US" sz="2800" dirty="0"/>
              <a:t>을 확보하였다</a:t>
            </a:r>
            <a:r>
              <a:rPr lang="en-US" altLang="ko-KR" sz="28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800" dirty="0"/>
              <a:t>OCSVM </a:t>
            </a:r>
            <a:r>
              <a:rPr lang="ko-KR" altLang="en-US" sz="2800" dirty="0"/>
              <a:t>검증에서 </a:t>
            </a:r>
            <a:r>
              <a:rPr lang="ko-KR" altLang="en-US" sz="2800" b="1" dirty="0"/>
              <a:t>공격 </a:t>
            </a:r>
            <a:r>
              <a:rPr lang="ko-KR" altLang="en-US" sz="2800" b="1" dirty="0" err="1"/>
              <a:t>탐지율</a:t>
            </a:r>
            <a:r>
              <a:rPr lang="ko-KR" altLang="en-US" sz="2800" b="1" dirty="0"/>
              <a:t> </a:t>
            </a:r>
            <a:r>
              <a:rPr lang="en-US" altLang="ko-KR" sz="2800" b="1" dirty="0"/>
              <a:t>99.1%</a:t>
            </a:r>
            <a:r>
              <a:rPr lang="en-US" altLang="ko-KR" sz="2800" dirty="0"/>
              <a:t>,</a:t>
            </a:r>
            <a:r>
              <a:rPr lang="en-US" altLang="ko-KR" sz="2800" b="1" dirty="0"/>
              <a:t> </a:t>
            </a:r>
            <a:r>
              <a:rPr lang="ko-KR" altLang="en-US" sz="2800" b="1" dirty="0"/>
              <a:t>정상 사용자 정확도 </a:t>
            </a:r>
            <a:r>
              <a:rPr lang="en-US" altLang="ko-KR" sz="2800" b="1" dirty="0"/>
              <a:t>96.3%</a:t>
            </a:r>
            <a:r>
              <a:rPr lang="ko-KR" altLang="en-US" sz="2800" dirty="0"/>
              <a:t>를 달성하여 실사용 수준의 성능을 입증하였다</a:t>
            </a:r>
            <a:r>
              <a:rPr lang="en-US" altLang="ko-KR" sz="28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800" b="1" dirty="0"/>
              <a:t>평균 </a:t>
            </a:r>
            <a:r>
              <a:rPr lang="en-US" altLang="ko-KR" sz="2800" b="1" dirty="0"/>
              <a:t>10</a:t>
            </a:r>
            <a:r>
              <a:rPr lang="ko-KR" altLang="en-US" sz="2800" b="1" dirty="0"/>
              <a:t>초 이내 탐지</a:t>
            </a:r>
            <a:r>
              <a:rPr lang="en-US" altLang="ko-KR" sz="2800" b="1" dirty="0"/>
              <a:t>·</a:t>
            </a:r>
            <a:r>
              <a:rPr lang="ko-KR" altLang="en-US" sz="2800" b="1" dirty="0"/>
              <a:t>차단 파이프라인</a:t>
            </a:r>
            <a:r>
              <a:rPr lang="ko-KR" altLang="en-US" sz="2800" dirty="0"/>
              <a:t>을 구현하여 </a:t>
            </a:r>
            <a:r>
              <a:rPr lang="ko-KR" altLang="en-US" sz="2800" b="1" dirty="0"/>
              <a:t>실질적인 적용 가능성</a:t>
            </a:r>
            <a:r>
              <a:rPr lang="ko-KR" altLang="en-US" sz="2800" dirty="0"/>
              <a:t>을 입증하였다</a:t>
            </a:r>
            <a:r>
              <a:rPr lang="en-US" altLang="ko-KR" sz="2800" dirty="0"/>
              <a:t>.</a:t>
            </a:r>
          </a:p>
          <a:p>
            <a:endParaRPr lang="ko-KR" altLang="en-US" sz="25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D90ECD-5C9B-D7F6-E5CC-64F520634DDA}"/>
              </a:ext>
            </a:extLst>
          </p:cNvPr>
          <p:cNvSpPr txBox="1"/>
          <p:nvPr/>
        </p:nvSpPr>
        <p:spPr>
          <a:xfrm>
            <a:off x="18676991" y="8473646"/>
            <a:ext cx="1885453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500" b="1" dirty="0"/>
              <a:t>모델 개선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EEEBD7-214D-00A5-899A-8F34D5821F9B}"/>
              </a:ext>
            </a:extLst>
          </p:cNvPr>
          <p:cNvSpPr txBox="1"/>
          <p:nvPr/>
        </p:nvSpPr>
        <p:spPr>
          <a:xfrm>
            <a:off x="16578527" y="8929059"/>
            <a:ext cx="3983917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-US" altLang="ko-KR" sz="2500" b="1" dirty="0"/>
              <a:t>Step Functions + SageMaker</a:t>
            </a:r>
          </a:p>
          <a:p>
            <a:pPr algn="r">
              <a:buNone/>
            </a:pPr>
            <a:r>
              <a:rPr lang="ko-KR" altLang="en-US" sz="2500" b="1" dirty="0"/>
              <a:t>매일 </a:t>
            </a:r>
            <a:r>
              <a:rPr lang="en-US" altLang="ko-KR" sz="2500" b="1" dirty="0"/>
              <a:t>00:00 </a:t>
            </a:r>
            <a:r>
              <a:rPr lang="ko-KR" altLang="en-US" sz="2500" b="1" dirty="0"/>
              <a:t>주기적 업데이트</a:t>
            </a:r>
          </a:p>
        </p:txBody>
      </p:sp>
      <p:pic>
        <p:nvPicPr>
          <p:cNvPr id="69" name="그림 68">
            <a:extLst>
              <a:ext uri="{FF2B5EF4-FFF2-40B4-BE49-F238E27FC236}">
                <a16:creationId xmlns:a16="http://schemas.microsoft.com/office/drawing/2014/main" id="{F1B32E5B-44E3-C9F2-5625-EABFA165247F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238441" y="21812312"/>
            <a:ext cx="6887278" cy="4192647"/>
          </a:xfrm>
          <a:prstGeom prst="rect">
            <a:avLst/>
          </a:prstGeom>
        </p:spPr>
      </p:pic>
      <p:pic>
        <p:nvPicPr>
          <p:cNvPr id="70" name="그림 69">
            <a:extLst>
              <a:ext uri="{FF2B5EF4-FFF2-40B4-BE49-F238E27FC236}">
                <a16:creationId xmlns:a16="http://schemas.microsoft.com/office/drawing/2014/main" id="{ED589D1F-E086-3649-6D7C-D230DDB4C67E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18909" y="21722994"/>
            <a:ext cx="5311458" cy="4524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447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409</TotalTime>
  <Words>300</Words>
  <Application>Microsoft Office PowerPoint</Application>
  <PresentationFormat>사용자 지정</PresentationFormat>
  <Paragraphs>70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Arial</vt:lpstr>
      <vt:lpstr>Calibri Light</vt:lpstr>
      <vt:lpstr>Arial Black</vt:lpstr>
      <vt:lpstr>Franklin Gothic Demi</vt:lpstr>
      <vt:lpstr>Calibri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YeoJun Sim</cp:lastModifiedBy>
  <cp:revision>49</cp:revision>
  <dcterms:created xsi:type="dcterms:W3CDTF">2019-07-31T07:36:11Z</dcterms:created>
  <dcterms:modified xsi:type="dcterms:W3CDTF">2025-09-15T07:52:52Z</dcterms:modified>
</cp:coreProperties>
</file>